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COIIAOC · PARTE 2 · SESIÓN II1 DE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Ingesta y Conectividad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C3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Multi-Canal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el agente recibe órdenes de compra por Telegram, identifica de qué canal vienen y entrega un JSON normalizado listo para el motor de reglas.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3108960" cy="292608"/>
          </a:xfrm>
          <a:prstGeom prst="rect">
            <a:avLst/>
          </a:prstGeom>
          <a:solidFill>
            <a:srgbClr val="0D2E4A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1693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MVP-A VERBEX COMPOSITES · COIIAOC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3310128"/>
            <a:ext cx="1440180" cy="237744"/>
          </a:xfrm>
          <a:prstGeom prst="rect">
            <a:avLst/>
          </a:prstGeom>
          <a:solidFill>
            <a:srgbClr val="0D2E4A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3328416"/>
            <a:ext cx="13304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PRDA · Percibir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79092" y="3310128"/>
            <a:ext cx="1284732" cy="237744"/>
          </a:xfrm>
          <a:prstGeom prst="rect">
            <a:avLst/>
          </a:prstGeom>
          <a:solidFill>
            <a:srgbClr val="0D2E4A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3956" y="3328416"/>
            <a:ext cx="11750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n8n · 4 nodos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22576" y="3310128"/>
            <a:ext cx="818388" cy="237744"/>
          </a:xfrm>
          <a:prstGeom prst="rect">
            <a:avLst/>
          </a:prstGeom>
          <a:solidFill>
            <a:srgbClr val="0D2E4A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328416"/>
            <a:ext cx="7086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 LLM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64608" y="3310128"/>
            <a:ext cx="1362456" cy="237744"/>
          </a:xfrm>
          <a:prstGeom prst="rect">
            <a:avLst/>
          </a:prstGeom>
          <a:solidFill>
            <a:srgbClr val="0D2E4A"/>
          </a:solidFill>
          <a:ln w="6350">
            <a:solidFill>
              <a:srgbClr val="FF8C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3328416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freeze 907bf31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 FUERZA DE LA SESIÓN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"El agente busca datos él solo."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agente no espera a que alguien le formatee los datos. Tiene canales monitorizados, sabe distinguirlos y extrae lo que necesita sin intervención humana. Eso es Percibir en el ciclo PRDA.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ARQUITECTURA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Qué construimos hoy — pipeline de 4 nodos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842516" cy="1188720"/>
          </a:xfrm>
          <a:prstGeom prst="rect">
            <a:avLst/>
          </a:prstGeom>
          <a:solidFill>
            <a:srgbClr val="EBF3FA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65376"/>
            <a:ext cx="18425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B9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Telegram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6B9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Trigger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1842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telegramTrigger v1.1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345436" y="2331720"/>
            <a:ext cx="256032" cy="0"/>
          </a:xfrm>
          <a:prstGeom prst="line">
            <a:avLst/>
          </a:prstGeom>
          <a:noFill/>
          <a:ln w="19050">
            <a:solidFill>
              <a:srgbClr val="C25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8588" y="221284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1468" y="1737360"/>
            <a:ext cx="1842516" cy="1188720"/>
          </a:xfrm>
          <a:prstGeom prst="rect">
            <a:avLst/>
          </a:prstGeom>
          <a:solidFill>
            <a:srgbClr val="FDF3E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1468" y="1865376"/>
            <a:ext cx="18425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Filtro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chat_id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1468" y="2487168"/>
            <a:ext cx="1842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filter v2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43984" y="2331720"/>
            <a:ext cx="256032" cy="0"/>
          </a:xfrm>
          <a:prstGeom prst="line">
            <a:avLst/>
          </a:prstGeom>
          <a:noFill/>
          <a:ln w="19050">
            <a:solidFill>
              <a:srgbClr val="C251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221284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1737360"/>
            <a:ext cx="1842516" cy="1188720"/>
          </a:xfrm>
          <a:prstGeom prst="rect">
            <a:avLst/>
          </a:prstGeom>
          <a:solidFill>
            <a:srgbClr val="FDF3E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865376"/>
            <a:ext cx="18425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Detectar canal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 preprocesar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0016" y="2487168"/>
            <a:ext cx="1842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 v2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42532" y="2331720"/>
            <a:ext cx="256032" cy="0"/>
          </a:xfrm>
          <a:prstGeom prst="line">
            <a:avLst/>
          </a:prstGeom>
          <a:noFill/>
          <a:ln w="19050">
            <a:solidFill>
              <a:srgbClr val="C251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5684" y="221284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51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98564" y="1737360"/>
            <a:ext cx="1842516" cy="1188720"/>
          </a:xfrm>
          <a:prstGeom prst="rect">
            <a:avLst/>
          </a:prstGeom>
          <a:solidFill>
            <a:srgbClr val="E8F7F2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8564" y="1865376"/>
            <a:ext cx="18425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Stub salida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7C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(contrato II2)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98564" y="2487168"/>
            <a:ext cx="1842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v3.4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2920" y="303580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723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510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02920" y="34198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nodos en cadena lineal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303580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0723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46120" y="34198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llamadas a LLM — todo determinista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303580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0723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C5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989320" y="34198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campos en el contrato de salida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749040"/>
            <a:ext cx="8138160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749040"/>
            <a:ext cx="45720" cy="402336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749040"/>
            <a:ext cx="7982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Propósito de esta sesión: limpiar el canal de entrada y entregar un contrato de datos consistente. La complejidad crece en II2 (reglas) e II3 (LLM). II1 es deliberadamente mínimo.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HEURÍSTICA DE CANAL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 canales · detección por estructura del mensaje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19072"/>
            <a:ext cx="54864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105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email_pdf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206654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 en texto libre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2648" y="226771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Correos, PDF escaneados, WhatsApp. Canal por defecto cuando no se detecta patrón estructural. → payloads 01, 03, 04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71907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719072"/>
            <a:ext cx="54864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8105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helionlink_csv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06654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CSV pipe-separated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55848" y="226771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Contiene 'HELIONLINK' o ≥ 5 campos separados por | en la misma línea. → payload 02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71907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719072"/>
            <a:ext cx="54864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18105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portal_web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9048" y="206654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Portal Kairos Defense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99048" y="226771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Menciona 'Kairos Defense' o 'portal web'. Detección por palabras clave. → sin payload de prueba (raro)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02152"/>
            <a:ext cx="813816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02152"/>
            <a:ext cx="45720" cy="34747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502152"/>
            <a:ext cx="7982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 de prioridad: se evalúan en orden helionlink_csv → portal_web → email_pdf. El primero que encaja gana. Si ninguno encaja, el canal es email_pdf por defecto.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913632"/>
            <a:ext cx="813816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913632"/>
            <a:ext cx="45720" cy="34747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913632"/>
            <a:ext cx="7982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Nota pedagógica: esta heurística es simple porque los 3 canales de VERBEX son visualmente muy distintos. La detección semántica de urgencias AOG llega en II3 con el LLM.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NODOS 1 Y 2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Telegram Trigger · Filtro chat_id autorizado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19072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Nodo 1 — Telegram Trigger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665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telegramTrigger v1.1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Escucha mensajes entrantes en el bot VERBEX. Requiere: Token de bot (desde @BotFather), Credencial «Telegram Bot · VERBEX» configurada en n8n, Solo evento «message» activado.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19072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19072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Nodo 2 — Filtro chat_id autorizado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0665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filter v2 · condición AND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Descarta mensajes antes de ejecutar código. Condición AND: chat_id está en TELEGRAM_ALLOWED_CHAT_IDS (env var CSV) + El mensaje tiene texto no vacío.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8138160" cy="141732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3108960"/>
            <a:ext cx="393192" cy="16459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3118104"/>
            <a:ext cx="393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Expression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94360" y="3182112"/>
            <a:ext cx="7955280" cy="13075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Condición del Filtro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left:  {{ ($env.TELEGRAM_ALLOWED_CHAT_IDS || '').split(',').map(s =&gt; s.trim()).includes($json.message.chat.id.toString())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op:    boolean is true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left:  {{ $json.message.text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op:    string is not empty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NODO 3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Detectar canal y preprocesar — el núcleo del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19072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Lookup chat_id → ERP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665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Mirror in-memory clientes.csv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el chat_id no está en el mapa → null (no rompe el flujo).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19072"/>
            <a:ext cx="4069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19072"/>
            <a:ext cx="548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Limpieza de texto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0665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Normalización antes del análisis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Trim · colapsar espacios múltiples · normalizar \r\n → \n · truncar a 4 000 chars si el mensaje es gigante.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3108960"/>
            <a:ext cx="393192" cy="16459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3118104"/>
            <a:ext cx="393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94360" y="3182112"/>
            <a:ext cx="7955280" cy="14904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Heurística de canal (en orden de prioridad)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let canal = 'email_pdf';   // default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(texto.includes('HELIONLINK') || (texto.includes('|') &amp;&amp; texto.split('|').length &gt;= 5))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canal = 'helionlink_csv';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 else if (/kairos[\s\-\.]?defense|portal[\s\.\-]web/i.test(texto))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canal = 'portal_web';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3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El nodo Set (Stub salida) filtra a exactamente 7 campos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IO · RE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Contrato completo del módulo II1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92224"/>
            <a:ext cx="777240" cy="182880"/>
          </a:xfrm>
          <a:prstGeom prst="rect">
            <a:avLst/>
          </a:prstGeom>
          <a:solidFill>
            <a:srgbClr val="EBF3FA"/>
          </a:solidFill>
          <a:ln w="6350">
            <a:solidFill>
              <a:srgbClr val="2E6B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92224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B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2648" y="202996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Token Telegram bot (TELEGRAM_BOT_TOKEN)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2648" y="223113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Lista de chat_id autorizados (TELEGRAM_ALLOWED_CHAT_IDS)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2648" y="243230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Mirror in-memory de data/clientes.csv (chat_id → codigo_erp)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2648" y="263347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Payloads de prueba (payload_01…04.txt)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719072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792224"/>
            <a:ext cx="864108" cy="182880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792224"/>
            <a:ext cx="8641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27448" y="202996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texto_limpio — string ≤ 4 000 chars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27448" y="223113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chat_id — string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27448" y="243230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codigo_erp_detectado — string | null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27448" y="263347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canal_detectado — email_pdf | helionlink_csv | portal_web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27448" y="283464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from_username — string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27448" y="303580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fecha_hoy — YYYY-MM-DD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273552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46704"/>
            <a:ext cx="777240" cy="182880"/>
          </a:xfrm>
          <a:prstGeom prst="rect">
            <a:avLst/>
          </a:prstGeom>
          <a:solidFill>
            <a:srgbClr val="FDF3E3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46704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REGLAS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2648" y="358444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Solo chat_id en lista autorizada pasa el filtro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" y="378561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Texto vacío → descartado (no llega al Code)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" y="398678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Texto &gt; 4 000 chars → truncado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" y="418795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\r\n, \r → \n · espacios múltiples → un espacio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" y="438912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Prioridad canal: helionlink_csv → portal_web → email_pdf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17720" y="3273552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346704"/>
            <a:ext cx="1211580" cy="182880"/>
          </a:xfrm>
          <a:prstGeom prst="rect">
            <a:avLst/>
          </a:prstGeom>
          <a:solidFill>
            <a:srgbClr val="FDECEA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346704"/>
            <a:ext cx="12115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EXCEPCIONES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27448" y="358444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chat_id desconocido → codigo_erp_detectado: null — flujo continúa; II2 trata el caso «cliente nuevo»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27448" y="378561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Texto vacío → Filter descarta antes de llegar al Code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27448" y="398678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chat_id no autorizado → Filter descarta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27448" y="418795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Mensaje AOG → email_pdf (semántica en II3)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PRUEBA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 payloads de prueba — enviar uno a uno al bot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8138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764792"/>
            <a:ext cx="139171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ARCHIVO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22653" y="1764792"/>
            <a:ext cx="3507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TEXTO DEL MENSAJE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03443" y="1764792"/>
            <a:ext cx="139171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CANAL_DETECTADO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68312" y="176479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CODIGO_ERP_DETECTADO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81381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020824"/>
            <a:ext cx="137342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payload_01 · po_estandar.txt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22653" y="2020824"/>
            <a:ext cx="348935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Purchase Order PO-2025-STRA-0847. Stratos Systems. Part: ST9-HTP-RIB-047, Qty: 12 EA, Need Date: 15/09/2025. Ref: ST-900 program. CoC required.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03443" y="2020824"/>
            <a:ext cx="137342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email_pdf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68312" y="202082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STRA-001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8138160" cy="347472"/>
          </a:xfrm>
          <a:prstGeom prst="rect">
            <a:avLst/>
          </a:prstGeom>
          <a:solidFill>
            <a:srgbClr val="FAFAF7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368296"/>
            <a:ext cx="137342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payload_02 · helionlink_csv.txt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22653" y="2368296"/>
            <a:ext cx="348935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HELIONLINK|HX7-FUS-PNL-331|24|EA|2025-10-01|HX7|KAIRO-001|Normal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03443" y="2368296"/>
            <a:ext cx="137342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helionlink_csv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68312" y="2368296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KAIRO-001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670048"/>
            <a:ext cx="81381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" y="2715768"/>
            <a:ext cx="137342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payload_03 · aog_alert.txt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22653" y="2715768"/>
            <a:ext cx="348935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URGENT AOG - EC-MKL inmovilizado Aeropuerto Sevilla. Necesitamos HX7-FUS-PNL-332 x2 inmediatamente. Contacto: Juan García 654321098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03443" y="2715768"/>
            <a:ext cx="137342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email_pdf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68312" y="271576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según chat_id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017520"/>
            <a:ext cx="8138160" cy="347472"/>
          </a:xfrm>
          <a:prstGeom prst="rect">
            <a:avLst/>
          </a:prstGeom>
          <a:solidFill>
            <a:srgbClr val="FAFAF7"/>
          </a:solidFill>
          <a:ln w="3810">
            <a:solidFill>
              <a:srgbClr val="E8E3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3063240"/>
            <a:ext cx="137342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payload_04 · amendment.txt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22653" y="3063240"/>
            <a:ext cx="348935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PO-2025-STRA-0847 Rev. B. Amendment: cantidad línea 1 cambia de 12 a 8 EA. Nueva Need Date: 30/09/2025.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03443" y="3063240"/>
            <a:ext cx="137342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email_pdf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68312" y="306324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según chat_id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456432"/>
            <a:ext cx="8138160" cy="329184"/>
          </a:xfrm>
          <a:prstGeom prst="rect">
            <a:avLst/>
          </a:prstGeom>
          <a:solidFill>
            <a:srgbClr val="FFF7ED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456432"/>
            <a:ext cx="45720" cy="329184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456432"/>
            <a:ext cx="7982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verificar: tras enviar cada mensaje, abrir Executions en n8n y revisar el output del nodo «Ingesta · Stub salida». Deben aparecer exactamente los 7 campos del contrato.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849624"/>
            <a:ext cx="8138160" cy="329184"/>
          </a:xfrm>
          <a:prstGeom prst="rect">
            <a:avLst/>
          </a:prstGeom>
          <a:solidFill>
            <a:srgbClr val="FFF7ED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849624"/>
            <a:ext cx="45720" cy="329184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3849624"/>
            <a:ext cx="7982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AOG (payload_03): se detecta como email_pdf. II1 solo identifica el canal de origen, no el contenido. La urgencia AOG llegará en II3 con el LLM.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FF8C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BLOQUE PRÁCTICO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Importa · Configura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Prueba · Verifica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Sigue los pasos de la guía M3 para importar el workflow, asignar la credencial Telegram y probar los 4 payloads. Objetivo: Gate F1 verde.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251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F1 · CIERRE · II1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Criterio de cierre · Lo que NO hace II1 · Qué viene en II2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8138160" cy="658368"/>
          </a:xfrm>
          <a:prstGeom prst="rect">
            <a:avLst/>
          </a:prstGeom>
          <a:solidFill>
            <a:srgbClr val="E8F7F2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19072"/>
            <a:ext cx="54864" cy="658368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55648"/>
            <a:ext cx="1005840" cy="182880"/>
          </a:xfrm>
          <a:prstGeom prst="rect">
            <a:avLst/>
          </a:prstGeom>
          <a:solidFill>
            <a:srgbClr val="E8F7F2"/>
          </a:solidFill>
          <a:ln w="6350">
            <a:solidFill>
              <a:srgbClr val="0D7C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6479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C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F1 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7516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workflow procesa los 4 payloads y devuelve JSON con los 7 campos del contrato sin invocar al LLM. Si todos los campos están presentes y canal_detectado coincide con la tabla de prueba, la sesión está completa.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95935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68880"/>
            <a:ext cx="54864" cy="2286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0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❌  Fuera de scope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Validar productos contra catalogo.csv → II2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145536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Aplicar reglas R01–R09 → II2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456432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Detectar AOG semánticamente → II3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767328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Mapear PN cliente → proveedor → II3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078224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Notificar al operador por Telegram → II4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Registrar en Google Sheets → II4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3168" y="2468880"/>
            <a:ext cx="395935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2468880"/>
            <a:ext cx="54864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560320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 En II2 construiremos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01184" y="2834640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 9 reglas deterministas R01–R09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01184" y="3145536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 Validación de catálogo in-memory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01184" y="3456432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 Cálculo de fechas de urgencia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01184" y="3767328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 8 casos de prueba automatizados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91456" y="4425696"/>
            <a:ext cx="3922776" cy="256032"/>
          </a:xfrm>
          <a:prstGeom prst="rect">
            <a:avLst/>
          </a:prstGeom>
          <a:solidFill>
            <a:srgbClr val="EBF3F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4443984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 fuerza II2: «El agente decide él solo.»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2025 Bernardo Ronquillo Japón · COIIAOC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II1 · Ingesta y Conectividad Multi-Canal — COIIAOC Parte 2</dc:title>
  <dc:subject>PptxGenJS Presentation</dc:subject>
  <dc:creator>Bernardo Ronquillo Japón</dc:creator>
  <cp:lastModifiedBy>Bernardo Ronquillo Japón</cp:lastModifiedBy>
  <cp:revision>1</cp:revision>
  <dcterms:created xsi:type="dcterms:W3CDTF">2026-05-12T11:01:32Z</dcterms:created>
  <dcterms:modified xsi:type="dcterms:W3CDTF">2026-05-12T11:01:32Z</dcterms:modified>
</cp:coreProperties>
</file>