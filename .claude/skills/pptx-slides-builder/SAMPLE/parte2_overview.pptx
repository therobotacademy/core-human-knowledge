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8C3B"/>
          </a:solidFill>
          <a:ln w="12700">
            <a:solidFill>
              <a:srgbClr val="FF8C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50" kern="0" dirty="0">
                <a:solidFill>
                  <a:srgbClr val="FF8C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AUTOMATIZACIÓN · COIIAOC · PARTE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Arquitectura y Desarrollo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138988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8C3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de un Agente IA Industrial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224028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AB0C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Presentación overview · 30 minutos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743200"/>
            <a:ext cx="3108960" cy="292608"/>
          </a:xfrm>
          <a:prstGeom prst="rect">
            <a:avLst/>
          </a:prstGeom>
          <a:solidFill>
            <a:srgbClr val="0D2E4A"/>
          </a:solidFill>
          <a:ln w="6350">
            <a:solidFill>
              <a:srgbClr val="FF8C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779776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8C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VERBEX COMPOSITES · Caso ancla Parte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333756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8C3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6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02920" y="391363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B0C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sesiones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48840" y="333756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8C3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15h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2148840" y="391363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B0C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lectivas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94760" y="333756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8C3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2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3794760" y="391363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B0C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MVPs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48463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© 2025 Bernardo Ronquillo Japón · COIIAOC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32104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 / 18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50" kern="0" dirty="0">
                <a:solidFill>
                  <a:srgbClr val="C251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PUENTE PARTE 1 → PARTE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Lo que ya sabéis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Cuatro contratos ya firmados. En Parte 2 no los re-explicamos — los desplegamos.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755648"/>
            <a:ext cx="40690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755648"/>
            <a:ext cx="54864" cy="12801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47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IO/RE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251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Inputs · Outputs · Reglas · Excepciones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322576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"Primero el diagrama, luego la herramienta" — plantilla entregada en I2.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755648"/>
            <a:ext cx="40690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755648"/>
            <a:ext cx="54864" cy="12801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847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PRDA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92040" y="210312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251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Percibir → Razonar → Decidir → Actuar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92040" y="2322576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Ciclo agéntico que estructura cada módulo de Parte 2.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172968"/>
            <a:ext cx="40690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172968"/>
            <a:ext cx="54864" cy="12801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2644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352044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251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El LLM no calcula ni decide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3739896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Introducido en I5. En Parte 2 es arquitectura obligatoria, no consejo.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3172968"/>
            <a:ext cx="40690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3172968"/>
            <a:ext cx="54864" cy="12801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2644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n8n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92040" y="352044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251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Herramienta dominante desde I4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92040" y="3739896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Parte 2 es íntegramente n8n + Anthropic Claude API. Python aparece como alternativa.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48463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B9B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© 2025 Bernardo Ronquillo Japón · COIIAOC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32104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50" kern="0" dirty="0">
                <a:solidFill>
                  <a:srgbClr val="C251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PUENTE PARTE 1 → PARTE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El salto cualitativo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36576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3657600" cy="329184"/>
          </a:xfrm>
          <a:prstGeom prst="rect">
            <a:avLst/>
          </a:prstGeom>
          <a:solidFill>
            <a:srgbClr val="E8E3D8"/>
          </a:solidFill>
          <a:ln w="12700">
            <a:solidFill>
              <a:srgbClr val="E8E3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1673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6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B9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 </a:t>
            </a:r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agente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19456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B9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 </a:t>
            </a:r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dominio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6060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B9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 </a:t>
            </a:r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canal de entrada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301752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B9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 </a:t>
            </a:r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Flujos secuenciales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34290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B9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 </a:t>
            </a:r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LLM como cerebro conectado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97680" y="2834640"/>
            <a:ext cx="640080" cy="0"/>
          </a:xfrm>
          <a:prstGeom prst="line">
            <a:avLst/>
          </a:prstGeom>
          <a:noFill/>
          <a:ln w="25400">
            <a:solidFill>
              <a:srgbClr val="C251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274320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251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937760" y="1298448"/>
            <a:ext cx="379476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37760" y="1298448"/>
            <a:ext cx="379476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131673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8C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PARTE 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0" y="1801368"/>
            <a:ext cx="64008" cy="274320"/>
          </a:xfrm>
          <a:prstGeom prst="rect">
            <a:avLst/>
          </a:prstGeom>
          <a:solidFill>
            <a:srgbClr val="2E6B9E"/>
          </a:solidFill>
          <a:ln w="12700">
            <a:solidFill>
              <a:srgbClr val="2E6B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93792" y="180136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Ingesta multicanal (3 canales)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0" y="2221992"/>
            <a:ext cx="64008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93792" y="222199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Reglas deterministas R01–R09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0" y="2642616"/>
            <a:ext cx="64008" cy="274320"/>
          </a:xfrm>
          <a:prstGeom prst="rect">
            <a:avLst/>
          </a:prstGeom>
          <a:solidFill>
            <a:srgbClr val="0D7C5A"/>
          </a:solidFill>
          <a:ln w="12700">
            <a:solidFill>
              <a:srgbClr val="0D7C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93792" y="264261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LLM semántico + parser anti-alucinación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0" y="3063240"/>
            <a:ext cx="64008" cy="274320"/>
          </a:xfrm>
          <a:prstGeom prst="rect">
            <a:avLst/>
          </a:prstGeom>
          <a:solidFill>
            <a:srgbClr val="C2510A"/>
          </a:solidFill>
          <a:ln w="12700">
            <a:solidFill>
              <a:srgbClr val="C2510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93792" y="30632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Routing + notificación multicanal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0" y="3483864"/>
            <a:ext cx="64008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93792" y="348386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Resiliencia · Deploy · MVP operable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" y="48463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B9B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© 2025 Bernardo Ronquillo Japón · COIIAOC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32104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8C3B"/>
          </a:solidFill>
          <a:ln w="12700">
            <a:solidFill>
              <a:srgbClr val="FF8C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50" kern="0" dirty="0">
                <a:solidFill>
                  <a:srgbClr val="FF8C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CASO ANCLA · HILO CONDUCTOR II1–II6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VERBEX COMPOSITES S.L.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1481328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B0C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Tier 2 composites · Sevilla · Sector aeronáutico · AS9100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8138160" cy="658368"/>
          </a:xfrm>
          <a:prstGeom prst="rect">
            <a:avLst/>
          </a:prstGeom>
          <a:solidFill>
            <a:srgbClr val="0D2A45"/>
          </a:solidFill>
          <a:ln w="6350">
            <a:solidFill>
              <a:srgbClr val="FF8C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38528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problema: Purchase Orders entrantes en texto libre, desde 3 canales, sin normalizar.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697480"/>
            <a:ext cx="2560320" cy="1115568"/>
          </a:xfrm>
          <a:prstGeom prst="rect">
            <a:avLst/>
          </a:prstGeom>
          <a:solidFill>
            <a:srgbClr val="0D2E4A"/>
          </a:solidFill>
          <a:ln w="6350">
            <a:solidFill>
              <a:srgbClr val="E8E3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697480"/>
            <a:ext cx="2560320" cy="219456"/>
          </a:xfrm>
          <a:prstGeom prst="rect">
            <a:avLst/>
          </a:prstGeom>
          <a:solidFill>
            <a:srgbClr val="1A4068"/>
          </a:solidFill>
          <a:ln w="12700">
            <a:solidFill>
              <a:srgbClr val="1A40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71576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8C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EMAIL PDF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94360" y="2971800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B0C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Texto libre · formato variable · adjunto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46120" y="2697480"/>
            <a:ext cx="2560320" cy="1115568"/>
          </a:xfrm>
          <a:prstGeom prst="rect">
            <a:avLst/>
          </a:prstGeom>
          <a:solidFill>
            <a:srgbClr val="0D2E4A"/>
          </a:solidFill>
          <a:ln w="6350">
            <a:solidFill>
              <a:srgbClr val="E8E3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2697480"/>
            <a:ext cx="2560320" cy="219456"/>
          </a:xfrm>
          <a:prstGeom prst="rect">
            <a:avLst/>
          </a:prstGeom>
          <a:solidFill>
            <a:srgbClr val="1A4068"/>
          </a:solidFill>
          <a:ln w="12700">
            <a:solidFill>
              <a:srgbClr val="1A40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271576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8C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HELIONLINK CSV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337560" y="2971800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B0C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≥5 campos pipe-separados · heurística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89320" y="2697480"/>
            <a:ext cx="2560320" cy="1115568"/>
          </a:xfrm>
          <a:prstGeom prst="rect">
            <a:avLst/>
          </a:prstGeom>
          <a:solidFill>
            <a:srgbClr val="0D2E4A"/>
          </a:solidFill>
          <a:ln w="6350">
            <a:solidFill>
              <a:srgbClr val="E8E3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89320" y="2697480"/>
            <a:ext cx="2560320" cy="219456"/>
          </a:xfrm>
          <a:prstGeom prst="rect">
            <a:avLst/>
          </a:prstGeom>
          <a:solidFill>
            <a:srgbClr val="1A4068"/>
          </a:solidFill>
          <a:ln w="12700">
            <a:solidFill>
              <a:srgbClr val="1A406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271576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8C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PORTAL WEB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080760" y="2971800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B0C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Mención explícita en texto de la PO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3931920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FF8C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Terminología auténtica · AOG · CoC · EASA Form 1 · AS9100 · PO · PN · FAL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" y="48463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© 2025 Bernardo Ronquillo Japón · COIIAOC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32104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50" kern="0" dirty="0">
                <a:solidFill>
                  <a:srgbClr val="C251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VERBEX · PROBLEMA OPERATIVO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El PO que llega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2697480" cy="2651760"/>
          </a:xfrm>
          <a:prstGeom prst="rect">
            <a:avLst/>
          </a:prstGeom>
          <a:solidFill>
            <a:srgbClr val="EBF3FA"/>
          </a:solidFill>
          <a:ln w="6350">
            <a:solidFill>
              <a:srgbClr val="E8E3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2697480" cy="237744"/>
          </a:xfrm>
          <a:prstGeom prst="rect">
            <a:avLst/>
          </a:prstGeom>
          <a:solidFill>
            <a:srgbClr val="2E6B9E"/>
          </a:solidFill>
          <a:ln w="12700">
            <a:solidFill>
              <a:srgbClr val="2E6B9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16736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 ESTÁNDAR · email_pdf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12648" y="16276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PURCHASE ORDER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12648" y="204825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PO-2026-VBX-1001 · AEROFAB MADRID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12648" y="2468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Item: VBX-CF-4412-A · Qty: 50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12648" y="288950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Delivery: 30 days · CoC required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55848" y="1298448"/>
            <a:ext cx="2697480" cy="2651760"/>
          </a:xfrm>
          <a:prstGeom prst="rect">
            <a:avLst/>
          </a:prstGeom>
          <a:solidFill>
            <a:srgbClr val="FDECEA"/>
          </a:solidFill>
          <a:ln w="6350">
            <a:solidFill>
              <a:srgbClr val="E8E3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55848" y="1298448"/>
            <a:ext cx="2697480" cy="237744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47288" y="1316736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AOG ALERT · email_pdf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65576" y="16276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AOG – AIRCRAFT ON GROUND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65576" y="204825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PO-2026-VBX-1003 · IBERTECHNIK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65576" y="2468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URGENT: VBX-GFRP-7701 · Qty: 4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65576" y="288950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Delivery: 48 h · EASA Form 1 req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08776" y="1298448"/>
            <a:ext cx="2697480" cy="2651760"/>
          </a:xfrm>
          <a:prstGeom prst="rect">
            <a:avLst/>
          </a:prstGeom>
          <a:solidFill>
            <a:srgbClr val="FDF3E3"/>
          </a:solidFill>
          <a:ln w="6350">
            <a:solidFill>
              <a:srgbClr val="E8E3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08776" y="1298448"/>
            <a:ext cx="2697480" cy="23774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0216" y="1316736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CSV · helionlink_csv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318504" y="16276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PO-2026-VBX-1002|COMPOSIT|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318504" y="204825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VBX-C-2201-B|20|CALIDAD|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18504" y="2468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2026-05-25|CoC|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18504" y="288950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Std delivery ok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89120" y="4096512"/>
            <a:ext cx="0" cy="320040"/>
          </a:xfrm>
          <a:prstGeom prst="line">
            <a:avLst/>
          </a:prstGeom>
          <a:noFill/>
          <a:ln w="25400">
            <a:solidFill>
              <a:srgbClr val="C251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462272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251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▼  ¿Qué necesita un operario para procesar esto manualmente?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" y="48463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B9B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© 2025 Bernardo Ronquillo Japón · COIIAOC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32104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50" kern="0" dirty="0">
                <a:solidFill>
                  <a:srgbClr val="C251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VERBEX · SALIDA DEL PIPELINE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Lo que el agente produce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4069080" cy="1060704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" y="1408176"/>
            <a:ext cx="804672" cy="182880"/>
          </a:xfrm>
          <a:prstGeom prst="rect">
            <a:avLst/>
          </a:prstGeom>
          <a:solidFill>
            <a:srgbClr val="EBF3FA"/>
          </a:solidFill>
          <a:ln w="6350">
            <a:solidFill>
              <a:srgbClr val="2E6B9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408176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6B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INPUT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508760" y="138988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numero_pedido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12648" y="1682496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 canónico normalizado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298448"/>
            <a:ext cx="4069080" cy="1060704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64608" y="1408176"/>
            <a:ext cx="804672" cy="182880"/>
          </a:xfrm>
          <a:prstGeom prst="rect">
            <a:avLst/>
          </a:prstGeom>
          <a:solidFill>
            <a:srgbClr val="E8F7F2"/>
          </a:solidFill>
          <a:ln w="6350">
            <a:solidFill>
              <a:srgbClr val="0D7C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408176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7C5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OUTPUT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760720" y="138988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prioridad_calculada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64608" y="1682496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URGENTE · ALTA · NORMAL (determinista)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2450592"/>
            <a:ext cx="4069080" cy="1060704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" y="2560320"/>
            <a:ext cx="804672" cy="182880"/>
          </a:xfrm>
          <a:prstGeom prst="rect">
            <a:avLst/>
          </a:prstGeom>
          <a:solidFill>
            <a:srgbClr val="E8F7F2"/>
          </a:solidFill>
          <a:ln w="6350">
            <a:solidFill>
              <a:srgbClr val="0D7C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" y="2560320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7C5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OUTPUT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508760" y="2542032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estado_normalizacion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" y="2834640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COMPLETO · PARCIAL · ERROR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450592"/>
            <a:ext cx="4069080" cy="1060704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64608" y="2560320"/>
            <a:ext cx="804672" cy="182880"/>
          </a:xfrm>
          <a:prstGeom prst="rect">
            <a:avLst/>
          </a:prstGeom>
          <a:solidFill>
            <a:srgbClr val="FDF3E3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2560320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4530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REGLA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760720" y="2542032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doc_requerida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64608" y="2834640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CoC · EASA Form 1 · Ninguno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3602736"/>
            <a:ext cx="4069080" cy="1060704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" y="3712464"/>
            <a:ext cx="804672" cy="182880"/>
          </a:xfrm>
          <a:prstGeom prst="rect">
            <a:avLst/>
          </a:prstGeom>
          <a:solidFill>
            <a:srgbClr val="FDECEA"/>
          </a:solidFill>
          <a:ln w="6350">
            <a:solidFill>
              <a:srgbClr val="B91C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" y="3712464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EXCEPCIÓN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508760" y="3694176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alertas[ ]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2648" y="3986784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Array de anomalías detectadas por R01–R09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3602736"/>
            <a:ext cx="4069080" cy="1060704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64608" y="3712464"/>
            <a:ext cx="804672" cy="182880"/>
          </a:xfrm>
          <a:prstGeom prst="rect">
            <a:avLst/>
          </a:prstGeom>
          <a:solidFill>
            <a:srgbClr val="E8F7F2"/>
          </a:solidFill>
          <a:ln w="6350">
            <a:solidFill>
              <a:srgbClr val="0D7C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3712464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7C5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OUTPUT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760720" y="3694176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confianza_extraccion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64608" y="3986784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0.0–1.0 · umbral 0.7 (R03)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02920" y="4663440"/>
            <a:ext cx="8138160" cy="2468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4672584"/>
            <a:ext cx="7955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JSON determinista · auditable · enrutable — esto es un producto de software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02920" y="48463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B9B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© 2025 Bernardo Ronquillo Japón · COIIAOC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32104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8C3B"/>
          </a:solidFill>
          <a:ln w="12700">
            <a:solidFill>
              <a:srgbClr val="FF8C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50" kern="0" dirty="0">
                <a:solidFill>
                  <a:srgbClr val="FF8C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ARQUITECTURA · PRDA MAPEADO A 6 SESIONES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El arco acumulativo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1481328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B0C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Cada sesión añade una capa que entra en la siguiente.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536192" y="2743200"/>
            <a:ext cx="274320" cy="0"/>
          </a:xfrm>
          <a:prstGeom prst="line">
            <a:avLst/>
          </a:prstGeom>
          <a:noFill/>
          <a:ln w="19050">
            <a:solidFill>
              <a:srgbClr val="FF8C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2336" y="1920240"/>
            <a:ext cx="1097280" cy="1097280"/>
          </a:xfrm>
          <a:prstGeom prst="ellipse">
            <a:avLst/>
          </a:prstGeom>
          <a:solidFill>
            <a:srgbClr val="0D2A45"/>
          </a:solidFill>
          <a:ln w="25400">
            <a:solidFill>
              <a:srgbClr val="2E6B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2231136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6B9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II1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9184" y="1691640"/>
            <a:ext cx="1261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9AB0C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PERCIBIR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29184" y="3108960"/>
            <a:ext cx="1261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Ingesta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Multicanal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980944" y="2743200"/>
            <a:ext cx="274320" cy="0"/>
          </a:xfrm>
          <a:prstGeom prst="line">
            <a:avLst/>
          </a:prstGeom>
          <a:noFill/>
          <a:ln w="19050">
            <a:solidFill>
              <a:srgbClr val="FF8C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47088" y="1920240"/>
            <a:ext cx="1097280" cy="1097280"/>
          </a:xfrm>
          <a:prstGeom prst="ellipse">
            <a:avLst/>
          </a:prstGeom>
          <a:solidFill>
            <a:srgbClr val="0D2A45"/>
          </a:solidFill>
          <a:ln w="25400">
            <a:solidFill>
              <a:srgbClr val="B4530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47088" y="2231136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II2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773936" y="1691640"/>
            <a:ext cx="1261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9AB0C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RAZONAR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773936" y="3108960"/>
            <a:ext cx="1261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Reglas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Deterministas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425696" y="2743200"/>
            <a:ext cx="274320" cy="0"/>
          </a:xfrm>
          <a:prstGeom prst="line">
            <a:avLst/>
          </a:prstGeom>
          <a:noFill/>
          <a:ln w="19050">
            <a:solidFill>
              <a:srgbClr val="FF8C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91840" y="1920240"/>
            <a:ext cx="1097280" cy="1097280"/>
          </a:xfrm>
          <a:prstGeom prst="ellipse">
            <a:avLst/>
          </a:prstGeom>
          <a:solidFill>
            <a:srgbClr val="0D2A45"/>
          </a:solidFill>
          <a:ln w="25400">
            <a:solidFill>
              <a:srgbClr val="0D7C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2231136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7C5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II3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18688" y="1691640"/>
            <a:ext cx="1261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9AB0C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RAZONAR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218688" y="3108960"/>
            <a:ext cx="1261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LLM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Semántico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870448" y="2743200"/>
            <a:ext cx="274320" cy="0"/>
          </a:xfrm>
          <a:prstGeom prst="line">
            <a:avLst/>
          </a:prstGeom>
          <a:noFill/>
          <a:ln w="19050">
            <a:solidFill>
              <a:srgbClr val="FF8C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36592" y="1920240"/>
            <a:ext cx="1097280" cy="1097280"/>
          </a:xfrm>
          <a:prstGeom prst="ellipse">
            <a:avLst/>
          </a:prstGeom>
          <a:solidFill>
            <a:srgbClr val="1A4068"/>
          </a:solidFill>
          <a:ln w="25400">
            <a:solidFill>
              <a:srgbClr val="FF8C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6592" y="2231136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8C3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II4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63440" y="1691640"/>
            <a:ext cx="1261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9AB0C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ACTUAR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663440" y="3108960"/>
            <a:ext cx="1261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Routing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Notificación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315200" y="2743200"/>
            <a:ext cx="274320" cy="0"/>
          </a:xfrm>
          <a:prstGeom prst="line">
            <a:avLst/>
          </a:prstGeom>
          <a:noFill/>
          <a:ln w="19050">
            <a:solidFill>
              <a:srgbClr val="FF8C3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81344" y="1920240"/>
            <a:ext cx="1097280" cy="1097280"/>
          </a:xfrm>
          <a:prstGeom prst="ellipse">
            <a:avLst/>
          </a:prstGeom>
          <a:solidFill>
            <a:srgbClr val="0D2A45"/>
          </a:solidFill>
          <a:ln w="25400">
            <a:solidFill>
              <a:srgbClr val="7898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81344" y="2231136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898A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II5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108192" y="1691640"/>
            <a:ext cx="1261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9AB0C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SISTEMA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108192" y="3108960"/>
            <a:ext cx="1261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Resiliencia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Alternativas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626096" y="1920240"/>
            <a:ext cx="1097280" cy="1097280"/>
          </a:xfrm>
          <a:prstGeom prst="ellipse">
            <a:avLst/>
          </a:prstGeom>
          <a:solidFill>
            <a:srgbClr val="1A4068"/>
          </a:solidFill>
          <a:ln w="25400">
            <a:solidFill>
              <a:srgbClr val="FF8C3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26096" y="2231136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8C3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II6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552944" y="1691640"/>
            <a:ext cx="1261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9AB0C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MVP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7552944" y="3108960"/>
            <a:ext cx="1261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Sistema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Completo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02920" y="3822192"/>
            <a:ext cx="8138160" cy="594360"/>
          </a:xfrm>
          <a:prstGeom prst="rect">
            <a:avLst/>
          </a:prstGeom>
          <a:solidFill>
            <a:srgbClr val="0D2A45"/>
          </a:solidFill>
          <a:ln w="6350">
            <a:solidFill>
              <a:srgbClr val="FF8C3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3895344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II1 → II2 → II3 → II4 → II5 → II6 · Al llegar a II6 tenéis el sistema completo operando end-to-end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2920" y="48463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© 2025 Bernardo Ronquillo Japón · COIIAOC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32104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50" kern="0" dirty="0">
                <a:solidFill>
                  <a:srgbClr val="C251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PRINCIPIO ARQUITECTÓNICO · INVARIANTE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La regla que no podéis romper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813816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444752"/>
            <a:ext cx="8138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El LLM </a:t>
            </a:r>
            <a:pPr algn="ctr" indent="0" marL="0">
              <a:buNone/>
            </a:pPr>
            <a:r>
              <a:rPr lang="en-US" sz="2800" b="1" dirty="0">
                <a:solidFill>
                  <a:srgbClr val="FF8C3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extrae</a:t>
            </a:r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  Las reglas </a:t>
            </a:r>
            <a:pPr algn="ctr" indent="0" marL="0">
              <a:buNone/>
            </a:pPr>
            <a:r>
              <a:rPr lang="en-US" sz="2800" b="1" dirty="0">
                <a:solidFill>
                  <a:srgbClr val="FF8C3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calculan</a:t>
            </a:r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2395728"/>
            <a:ext cx="3858768" cy="2084832"/>
          </a:xfrm>
          <a:prstGeom prst="rect">
            <a:avLst/>
          </a:prstGeom>
          <a:solidFill>
            <a:srgbClr val="FDECEA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48716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❌  ANTIPATRÓN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2816352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 LLM decide prioridad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320040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 LLM valida catálogo de PNs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58444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 LLM calcula fechas límite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3968496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 Resultado: alucina, varía con el modelo, no es auditable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82312" y="2395728"/>
            <a:ext cx="3858768" cy="2084832"/>
          </a:xfrm>
          <a:prstGeom prst="rect">
            <a:avLst/>
          </a:prstGeom>
          <a:solidFill>
            <a:srgbClr val="E8F7F2"/>
          </a:solidFill>
          <a:ln w="12700">
            <a:solidFill>
              <a:srgbClr val="0D7C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65192" y="248716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C5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✅  PATRÓN E5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65192" y="2816352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7C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 LLM extrae estructura del texto libre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65192" y="320040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7C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 R01–R09 en JS determinista deciden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65192" y="358444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7C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 Parser anti-alucinación valida PNs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65192" y="3968496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7C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 Resultado: auditable, reproducible, drift-safe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48463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B9B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© 2025 Bernardo Ronquillo Japón · COIIAOC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32104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50" kern="0" dirty="0">
                <a:solidFill>
                  <a:srgbClr val="C251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CAPA DETERMINISTA · LÓGICA DE NEGOCIO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Las 9 reglas R01–R09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813816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57784" y="1316736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8C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70432" y="131673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8C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CONDICIÓN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867912" y="131673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8C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ESTADO RESULTANTE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25312" y="1316736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8C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NOTA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2920" y="1572768"/>
            <a:ext cx="8138160" cy="329184"/>
          </a:xfrm>
          <a:prstGeom prst="rect">
            <a:avLst/>
          </a:prstGeom>
          <a:solidFill>
            <a:srgbClr val="FDECEA"/>
          </a:solidFill>
          <a:ln w="3810">
            <a:solidFill>
              <a:srgbClr val="E8E3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572768"/>
            <a:ext cx="45720" cy="329184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7784" y="1627632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70432" y="1627632"/>
            <a:ext cx="2578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Mención AOG en texto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67912" y="1627632"/>
            <a:ext cx="19385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URGENTE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25312" y="1627632"/>
            <a:ext cx="1389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override máximo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1920240"/>
            <a:ext cx="8138160" cy="329184"/>
          </a:xfrm>
          <a:prstGeom prst="rect">
            <a:avLst/>
          </a:prstGeom>
          <a:solidFill>
            <a:srgbClr val="FAFAF7"/>
          </a:solidFill>
          <a:ln w="3810">
            <a:solidFill>
              <a:srgbClr val="E8E3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" y="1975104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70432" y="1975104"/>
            <a:ext cx="2578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Fecha entrega &lt; 5 días hábiles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67912" y="1975104"/>
            <a:ext cx="19385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7C5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ALTA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25312" y="1975104"/>
            <a:ext cx="1389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prioridad temporal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2267712"/>
            <a:ext cx="813816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8E3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7784" y="2322576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70432" y="2322576"/>
            <a:ext cx="2578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Confianza extracción &lt; 0.7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67912" y="2322576"/>
            <a:ext cx="19385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7C5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PARCIAL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25312" y="2322576"/>
            <a:ext cx="1389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alerta revisar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2615184"/>
            <a:ext cx="8138160" cy="329184"/>
          </a:xfrm>
          <a:prstGeom prst="rect">
            <a:avLst/>
          </a:prstGeom>
          <a:solidFill>
            <a:srgbClr val="FDECEA"/>
          </a:solidFill>
          <a:ln w="3810">
            <a:solidFill>
              <a:srgbClr val="E8E3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2615184"/>
            <a:ext cx="45720" cy="329184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7784" y="2670048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R04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70432" y="2670048"/>
            <a:ext cx="2578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PN no existe en catálogo VBX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867912" y="2670048"/>
            <a:ext cx="19385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ERROR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25312" y="2670048"/>
            <a:ext cx="1389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bloquea pipeline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" y="2962656"/>
            <a:ext cx="813816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8E3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7784" y="3017520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R05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70432" y="3017520"/>
            <a:ext cx="2578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Línea requiere CoC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867912" y="3017520"/>
            <a:ext cx="19385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7C5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doc_requerida: CoC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925312" y="3017520"/>
            <a:ext cx="1389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trazabilidad calidad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2920" y="3310128"/>
            <a:ext cx="8138160" cy="329184"/>
          </a:xfrm>
          <a:prstGeom prst="rect">
            <a:avLst/>
          </a:prstGeom>
          <a:solidFill>
            <a:srgbClr val="FAFAF7"/>
          </a:solidFill>
          <a:ln w="3810">
            <a:solidFill>
              <a:srgbClr val="E8E3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7784" y="3364992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R06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70432" y="3364992"/>
            <a:ext cx="2578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Línea requiere EASA Form 1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867912" y="3364992"/>
            <a:ext cx="19385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7C5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doc_requerida: EASA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925312" y="3364992"/>
            <a:ext cx="1389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regulatorio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02920" y="3657600"/>
            <a:ext cx="813816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8E3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7784" y="3712464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R07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170432" y="3712464"/>
            <a:ext cx="2578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Cliente no en sistema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867912" y="3712464"/>
            <a:ext cx="19385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7C5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PARCIAL · alerta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925312" y="3712464"/>
            <a:ext cx="1389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alta a ops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02920" y="4005072"/>
            <a:ext cx="8138160" cy="329184"/>
          </a:xfrm>
          <a:prstGeom prst="rect">
            <a:avLst/>
          </a:prstGeom>
          <a:solidFill>
            <a:srgbClr val="FDECEA"/>
          </a:solidFill>
          <a:ln w="3810">
            <a:solidFill>
              <a:srgbClr val="E8E3D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02920" y="4005072"/>
            <a:ext cx="45720" cy="329184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7784" y="4059936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R08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170432" y="4059936"/>
            <a:ext cx="2578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Cantidad ≤ 0 o no numérica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867912" y="4059936"/>
            <a:ext cx="19385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ERROR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925312" y="4059936"/>
            <a:ext cx="1389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validación básica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02920" y="4352544"/>
            <a:ext cx="813816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8E3D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7784" y="4407408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R09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170432" y="4407408"/>
            <a:ext cx="2578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 ya existe en Sheets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3867912" y="4407408"/>
            <a:ext cx="19385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7C5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flag duplicado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925312" y="4407408"/>
            <a:ext cx="1389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idempotencia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02920" y="4754880"/>
            <a:ext cx="8138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251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Orden de aplicación: R04+R08 (validación) → R07 (cliente) → R01+R02 (prioridad) → R05+R06 (cert) → R03 (confianza) → R09 (duplicado)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02920" y="48463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B9B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© 2025 Bernardo Ronquillo Japón · COIIAOC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832104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50" kern="0" dirty="0">
                <a:solidFill>
                  <a:srgbClr val="C251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CAPA SEMÁNTICA · CONTROL DE CALIDAD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El parser anti-alucinación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LLM puede inventar un número de pieza. El parser lo atrapa antes de que llegue a las reglas.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828800" cy="1371600"/>
          </a:xfrm>
          <a:prstGeom prst="rect">
            <a:avLst/>
          </a:prstGeom>
          <a:solidFill>
            <a:srgbClr val="EBF3FA"/>
          </a:solidFill>
          <a:ln w="12700">
            <a:solidFill>
              <a:srgbClr val="2E6B9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9202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6B9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LLM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E6B9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Output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450592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Texto libre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JSON raw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286000" y="2459736"/>
            <a:ext cx="274320" cy="0"/>
          </a:xfrm>
          <a:prstGeom prst="line">
            <a:avLst/>
          </a:prstGeom>
          <a:noFill/>
          <a:ln w="25400">
            <a:solidFill>
              <a:srgbClr val="C251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50592" y="2368296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251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▶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0" y="1783080"/>
            <a:ext cx="1828800" cy="1371600"/>
          </a:xfrm>
          <a:prstGeom prst="rect">
            <a:avLst/>
          </a:prstGeom>
          <a:solidFill>
            <a:srgbClr val="FDF3E3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19202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¿JSON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válido?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60320" y="2450592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Limpia fences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 schema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89120" y="2459736"/>
            <a:ext cx="274320" cy="0"/>
          </a:xfrm>
          <a:prstGeom prst="line">
            <a:avLst/>
          </a:prstGeom>
          <a:noFill/>
          <a:ln w="25400">
            <a:solidFill>
              <a:srgbClr val="C251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53712" y="2368296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251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▶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1783080"/>
            <a:ext cx="1828800" cy="1371600"/>
          </a:xfrm>
          <a:prstGeom prst="rect">
            <a:avLst/>
          </a:prstGeom>
          <a:solidFill>
            <a:srgbClr val="FDF3E3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9202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¿PN en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catálogo?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63440" y="2450592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Verifica contra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VBX-COMP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92240" y="2459736"/>
            <a:ext cx="274320" cy="0"/>
          </a:xfrm>
          <a:prstGeom prst="line">
            <a:avLst/>
          </a:prstGeom>
          <a:noFill/>
          <a:ln w="25400">
            <a:solidFill>
              <a:srgbClr val="C251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56832" y="2368296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251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66560" y="1783080"/>
            <a:ext cx="1828800" cy="1371600"/>
          </a:xfrm>
          <a:prstGeom prst="rect">
            <a:avLst/>
          </a:prstGeom>
          <a:solidFill>
            <a:srgbClr val="E8F7F2"/>
          </a:solidFill>
          <a:ln w="12700">
            <a:solidFill>
              <a:srgbClr val="0D7C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19202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7C5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Output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D7C5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validado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66560" y="2450592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JSON listo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para R01–R09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560320" y="3337560"/>
            <a:ext cx="4023360" cy="777240"/>
          </a:xfrm>
          <a:prstGeom prst="rect">
            <a:avLst/>
          </a:prstGeom>
          <a:solidFill>
            <a:srgbClr val="FDECEA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51760" y="340156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 falla cualquier validación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651760" y="361188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 PN inventado: forzar null + añadir alerta "pn_no_catalogado"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9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 JSON inválido: estado ERROR + log + Telegram al operador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4315968"/>
            <a:ext cx="8138160" cy="566928"/>
          </a:xfrm>
          <a:prstGeom prst="rect">
            <a:avLst/>
          </a:prstGeom>
          <a:solidFill>
            <a:srgbClr val="E8F7F2"/>
          </a:solidFill>
          <a:ln w="6350">
            <a:solidFill>
              <a:srgbClr val="0D7C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4407408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7C5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~0,012 € / PO</a:t>
            </a:r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 ·  ~1900 tokens input + 300 output  ·  </a:t>
            </a:r>
            <a:pPr algn="ctr" indent="0" marL="0">
              <a:buNone/>
            </a:pPr>
            <a:r>
              <a:rPr lang="en-US" sz="1500" b="1" dirty="0">
                <a:solidFill>
                  <a:srgbClr val="0D7C5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~20 € / mes a 1.500 POs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02920" y="48463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B9B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© 2025 Bernardo Ronquillo Japón · COIIAOC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32104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8C3B"/>
          </a:solidFill>
          <a:ln w="12700">
            <a:solidFill>
              <a:srgbClr val="FF8C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50" kern="0" dirty="0">
                <a:solidFill>
                  <a:srgbClr val="FF8C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MVP-A · CÓDIGO LISTO · F0–F7 · 14/14 CRITERIOS ✅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Agente Normalizador VERBEX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1508760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B0C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Stack: n8n + Anthropic Claude API + Google Sheets + Telegram + SMTP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901952"/>
            <a:ext cx="1261872" cy="749808"/>
          </a:xfrm>
          <a:prstGeom prst="rect">
            <a:avLst/>
          </a:prstGeom>
          <a:solidFill>
            <a:srgbClr val="0D2A45"/>
          </a:solidFill>
          <a:ln w="12700">
            <a:solidFill>
              <a:srgbClr val="2E6B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920240"/>
            <a:ext cx="12618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6B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II1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E6B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Ingesta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920240" y="1901952"/>
            <a:ext cx="1261872" cy="749808"/>
          </a:xfrm>
          <a:prstGeom prst="rect">
            <a:avLst/>
          </a:prstGeom>
          <a:solidFill>
            <a:srgbClr val="0D2A45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20240" y="1920240"/>
            <a:ext cx="12618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II2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Reglas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901952"/>
            <a:ext cx="1261872" cy="749808"/>
          </a:xfrm>
          <a:prstGeom prst="rect">
            <a:avLst/>
          </a:prstGeom>
          <a:solidFill>
            <a:srgbClr val="0D2A45"/>
          </a:solidFill>
          <a:ln w="12700">
            <a:solidFill>
              <a:srgbClr val="0D7C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920240"/>
            <a:ext cx="12618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7C5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II3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D7C5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901952"/>
            <a:ext cx="1261872" cy="749808"/>
          </a:xfrm>
          <a:prstGeom prst="rect">
            <a:avLst/>
          </a:prstGeom>
          <a:solidFill>
            <a:srgbClr val="0D2A45"/>
          </a:solidFill>
          <a:ln w="12700">
            <a:solidFill>
              <a:srgbClr val="FF8C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920240"/>
            <a:ext cx="12618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8C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II4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8C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Routing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1901952"/>
            <a:ext cx="1261872" cy="749808"/>
          </a:xfrm>
          <a:prstGeom prst="rect">
            <a:avLst/>
          </a:prstGeom>
          <a:solidFill>
            <a:srgbClr val="0D2A45"/>
          </a:solidFill>
          <a:ln w="12700">
            <a:solidFill>
              <a:srgbClr val="7898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920240"/>
            <a:ext cx="12618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898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II5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7898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Resiliencia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589520" y="1901952"/>
            <a:ext cx="1261872" cy="749808"/>
          </a:xfrm>
          <a:prstGeom prst="rect">
            <a:avLst/>
          </a:prstGeom>
          <a:solidFill>
            <a:srgbClr val="0D2A45"/>
          </a:solidFill>
          <a:ln w="12700">
            <a:solidFill>
              <a:srgbClr val="FF8C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0" y="1920240"/>
            <a:ext cx="12618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8C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II6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8C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MVP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2852928"/>
            <a:ext cx="2542032" cy="1024128"/>
          </a:xfrm>
          <a:prstGeom prst="rect">
            <a:avLst/>
          </a:prstGeom>
          <a:solidFill>
            <a:srgbClr val="0D2E4A"/>
          </a:solidFill>
          <a:ln w="6350">
            <a:solidFill>
              <a:srgbClr val="E8E3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907792"/>
            <a:ext cx="25420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8C3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14/14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502920" y="3419856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B0C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criterios validados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27832" y="2852928"/>
            <a:ext cx="2542032" cy="1024128"/>
          </a:xfrm>
          <a:prstGeom prst="rect">
            <a:avLst/>
          </a:prstGeom>
          <a:solidFill>
            <a:srgbClr val="0D2E4A"/>
          </a:solidFill>
          <a:ln w="6350">
            <a:solidFill>
              <a:srgbClr val="E8E3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27832" y="2907792"/>
            <a:ext cx="25420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8C3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9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3227832" y="3419856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B0C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reglas de negocio JS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52744" y="2852928"/>
            <a:ext cx="2542032" cy="1024128"/>
          </a:xfrm>
          <a:prstGeom prst="rect">
            <a:avLst/>
          </a:prstGeom>
          <a:solidFill>
            <a:srgbClr val="0D2E4A"/>
          </a:solidFill>
          <a:ln w="6350">
            <a:solidFill>
              <a:srgbClr val="E8E3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52744" y="2907792"/>
            <a:ext cx="25420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8C3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~20 €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5952744" y="3419856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B0C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coste mes / 1.500 POs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" y="4059936"/>
            <a:ext cx="2542032" cy="219456"/>
          </a:xfrm>
          <a:prstGeom prst="rect">
            <a:avLst/>
          </a:prstGeom>
          <a:solidFill>
            <a:srgbClr val="0D2A45"/>
          </a:solidFill>
          <a:ln w="3810">
            <a:solidFill>
              <a:srgbClr val="1A406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4078224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B0C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Webhook Telegram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27832" y="4059936"/>
            <a:ext cx="2542032" cy="219456"/>
          </a:xfrm>
          <a:prstGeom prst="rect">
            <a:avLst/>
          </a:prstGeom>
          <a:solidFill>
            <a:srgbClr val="0D2A45"/>
          </a:solidFill>
          <a:ln w="3810">
            <a:solidFill>
              <a:srgbClr val="1A406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19272" y="4078224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B0C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Heurística canal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52744" y="4059936"/>
            <a:ext cx="2542032" cy="219456"/>
          </a:xfrm>
          <a:prstGeom prst="rect">
            <a:avLst/>
          </a:prstGeom>
          <a:solidFill>
            <a:srgbClr val="0D2A45"/>
          </a:solidFill>
          <a:ln w="3810">
            <a:solidFill>
              <a:srgbClr val="1A406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44184" y="4078224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B0C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Parser anti-alucinación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2920" y="4334256"/>
            <a:ext cx="2542032" cy="219456"/>
          </a:xfrm>
          <a:prstGeom prst="rect">
            <a:avLst/>
          </a:prstGeom>
          <a:solidFill>
            <a:srgbClr val="0D2A45"/>
          </a:solidFill>
          <a:ln w="3810">
            <a:solidFill>
              <a:srgbClr val="1A406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4352544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B0C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Sheets como BD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27832" y="4334256"/>
            <a:ext cx="2542032" cy="219456"/>
          </a:xfrm>
          <a:prstGeom prst="rect">
            <a:avLst/>
          </a:prstGeom>
          <a:solidFill>
            <a:srgbClr val="0D2A45"/>
          </a:solidFill>
          <a:ln w="3810">
            <a:solidFill>
              <a:srgbClr val="1A406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19272" y="4352544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B0C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Error Trigger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952744" y="4334256"/>
            <a:ext cx="2542032" cy="219456"/>
          </a:xfrm>
          <a:prstGeom prst="rect">
            <a:avLst/>
          </a:prstGeom>
          <a:solidFill>
            <a:srgbClr val="0D2A45"/>
          </a:solidFill>
          <a:ln w="3810">
            <a:solidFill>
              <a:srgbClr val="1A406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44184" y="4352544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B0C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Streamlit dashboard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2920" y="48463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© 2025 Bernardo Ronquillo Japón · COIIAOC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32104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50" kern="0" dirty="0">
                <a:solidFill>
                  <a:srgbClr val="C251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MVP-B · MÓDULO EXTRA · 7/8 CRITERIOS ✅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Crew NCR — sistemas multi-agente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Non-Conformance Reports aeronáuticos · 3 agentes encadenados · CrewAI + Python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719072"/>
            <a:ext cx="2651760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719072"/>
            <a:ext cx="2651760" cy="256032"/>
          </a:xfrm>
          <a:prstGeom prst="rect">
            <a:avLst/>
          </a:prstGeom>
          <a:solidFill>
            <a:srgbClr val="2E6B9E"/>
          </a:solidFill>
          <a:ln w="12700">
            <a:solidFill>
              <a:srgbClr val="2E6B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73736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AGENTE CLASIFICADOR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12648" y="2066544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NCR severity · AS9100 clause · contención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2648" y="2743200"/>
            <a:ext cx="2423160" cy="530352"/>
          </a:xfrm>
          <a:prstGeom prst="rect">
            <a:avLst/>
          </a:prstGeom>
          <a:solidFill>
            <a:srgbClr val="FAFAF7"/>
          </a:solidFill>
          <a:ln w="3810">
            <a:solidFill>
              <a:srgbClr val="E8E3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2816352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6B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tool: lookup_tipo_nc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200400" y="2395728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251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ctx ▶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355848" y="1719072"/>
            <a:ext cx="2651760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55848" y="1719072"/>
            <a:ext cx="2651760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47288" y="173736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AGENTE CAUSAS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465576" y="2066544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Análisis 8D · causa raíz por área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465576" y="2743200"/>
            <a:ext cx="2423160" cy="530352"/>
          </a:xfrm>
          <a:prstGeom prst="rect">
            <a:avLst/>
          </a:prstGeom>
          <a:solidFill>
            <a:srgbClr val="FAFAF7"/>
          </a:solidFill>
          <a:ln w="3810">
            <a:solidFill>
              <a:srgbClr val="E8E3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2816352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4530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tool: lookup_causas_raiz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053328" y="2395728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251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ctx ▶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208776" y="1719072"/>
            <a:ext cx="2651760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08776" y="1719072"/>
            <a:ext cx="2651760" cy="256032"/>
          </a:xfrm>
          <a:prstGeom prst="rect">
            <a:avLst/>
          </a:prstGeom>
          <a:solidFill>
            <a:srgbClr val="0D7C5A"/>
          </a:solidFill>
          <a:ln w="12700">
            <a:solidFill>
              <a:srgbClr val="0D7C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0216" y="173736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AGENTE PLANES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318504" y="2066544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CAPA · responsable · plazo días hábiles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18504" y="2743200"/>
            <a:ext cx="2423160" cy="530352"/>
          </a:xfrm>
          <a:prstGeom prst="rect">
            <a:avLst/>
          </a:prstGeom>
          <a:solidFill>
            <a:srgbClr val="FAFAF7"/>
          </a:solidFill>
          <a:ln w="3810">
            <a:solidFill>
              <a:srgbClr val="E8E3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73368" y="2816352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7C5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tool: razonamiento puro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02920" y="3493008"/>
            <a:ext cx="8138160" cy="804672"/>
          </a:xfrm>
          <a:prstGeom prst="rect">
            <a:avLst/>
          </a:prstGeom>
          <a:solidFill>
            <a:srgbClr val="E8F7F2"/>
          </a:solidFill>
          <a:ln w="6350">
            <a:solidFill>
              <a:srgbClr val="0D7C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56616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C5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¿Por qué CrewAI y no n8n?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85800" y="3767328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Cada agente razona sobre el output del anterior, no solo enruta datos. El alumno ve la delegación explícita entre roles y el efecto de tools específicas por agente.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02920" y="48463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B9B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© 2025 Bernardo Ronquillo Japón · COIIAOC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32104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50" kern="0" dirty="0">
                <a:solidFill>
                  <a:srgbClr val="C251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DOS MVPs · UNA PROGRESIÓN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Columna vertebral y extensión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475488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475488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16736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8C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MVP-A · CURSO OFICIAL  II1–II6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71907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Agente Normalizador VERBEX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8368" y="210312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 Track A: n8n + Claude API (oficial COIIAOC)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251460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 Track B: nanobot Python (alternativa documentada)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" y="292608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 Código completo · importable en n8n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" y="333756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 6 sesiones · arco acumulativo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374904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 Evaluable · criterio de aceptación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49240" y="2560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251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➕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897880" y="1298448"/>
            <a:ext cx="28346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97880" y="1298448"/>
            <a:ext cx="2834640" cy="2926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1316736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MVP-B · MÓDULO EXTRA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89320" y="171907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Crew NCR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35040" y="208483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 Python + CrewAI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035040" y="243230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 3 agentes · caso NCR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035040" y="277977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 No evaluable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4645152"/>
            <a:ext cx="813816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663440"/>
            <a:ext cx="7955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MVP-A es el producto del curso · MVP-B muestra hasta dónde puede llegar la arquitectura multi-agente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48463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B9B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© 2025 Bernardo Ronquillo Japón · COIIAOC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32104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50" kern="0" dirty="0">
                <a:solidFill>
                  <a:srgbClr val="C251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CÓMO TRABAJAMOS · CADA SESIÓN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Patrón de materiales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40690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13716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444752"/>
            <a:ext cx="640080" cy="256032"/>
          </a:xfrm>
          <a:prstGeom prst="rect">
            <a:avLst/>
          </a:prstGeom>
          <a:solidFill>
            <a:srgbClr val="EBF3F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" y="144475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80744" y="1463040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PPTX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9224" y="1801368"/>
            <a:ext cx="38221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Presentación teórica · ~14–16 slides · conceptos + ejercicio en clase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298448"/>
            <a:ext cx="40690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298448"/>
            <a:ext cx="54864" cy="13716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01184" y="1444752"/>
            <a:ext cx="640080" cy="256032"/>
          </a:xfrm>
          <a:prstGeom prst="rect">
            <a:avLst/>
          </a:prstGeom>
          <a:solidFill>
            <a:srgbClr val="FDF3E3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01184" y="144475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32704" y="1463040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DOCX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01184" y="1801368"/>
            <a:ext cx="38221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Worksheet · ficha de diseño IO/RE · reutilizable para vuestro propio dominio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2807208"/>
            <a:ext cx="40690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2807208"/>
            <a:ext cx="54864" cy="1371600"/>
          </a:xfrm>
          <a:prstGeom prst="rect">
            <a:avLst/>
          </a:prstGeom>
          <a:solidFill>
            <a:srgbClr val="0D7C5A"/>
          </a:solidFill>
          <a:ln w="12700">
            <a:solidFill>
              <a:srgbClr val="0D7C5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" y="2953512"/>
            <a:ext cx="640080" cy="256032"/>
          </a:xfrm>
          <a:prstGeom prst="rect">
            <a:avLst/>
          </a:prstGeom>
          <a:solidFill>
            <a:srgbClr val="E8F7F2"/>
          </a:solidFill>
          <a:ln w="6350">
            <a:solidFill>
              <a:srgbClr val="0D7C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" y="295351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7C5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80744" y="2971800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HTML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9224" y="3310128"/>
            <a:ext cx="38221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Guía práctica step-by-step · capturas + JSON de referencia + tabla esperada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2807208"/>
            <a:ext cx="40690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2807208"/>
            <a:ext cx="54864" cy="13716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01184" y="2953512"/>
            <a:ext cx="640080" cy="256032"/>
          </a:xfrm>
          <a:prstGeom prst="rect">
            <a:avLst/>
          </a:prstGeom>
          <a:solidFill>
            <a:srgbClr val="FDECEA"/>
          </a:solidFill>
          <a:ln w="6350">
            <a:solidFill>
              <a:srgbClr val="B91C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01184" y="295351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32704" y="2971800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JSON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01184" y="3310128"/>
            <a:ext cx="38221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Workflow n8n importable · validado · payloads de prueba incluidos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4663440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251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50 min teoría · 90 min práctica guiada · código ya validado — vosotros importáis, configuráis, ejecutáis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2920" y="48463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B9B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© 2025 Bernardo Ronquillo Japón · COIIAOC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32104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50" kern="0" dirty="0">
                <a:solidFill>
                  <a:srgbClr val="C251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ANTES DE LA SESIÓN II1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Lo que necesitáis preparar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81381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0" cy="749808"/>
          </a:xfrm>
          <a:prstGeom prst="rect">
            <a:avLst/>
          </a:prstGeom>
          <a:solidFill>
            <a:srgbClr val="E8F7F2"/>
          </a:solidFill>
          <a:ln w="6350">
            <a:solidFill>
              <a:srgbClr val="0D7C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98448"/>
            <a:ext cx="548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7C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✔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70432" y="138988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n8n operativo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70432" y="1682496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Ya instalado desde I4 · puerto 5678 en Daytona sandbox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139696"/>
            <a:ext cx="81381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139696"/>
            <a:ext cx="548640" cy="749808"/>
          </a:xfrm>
          <a:prstGeom prst="rect">
            <a:avLst/>
          </a:prstGeom>
          <a:solidFill>
            <a:srgbClr val="E8F7F2"/>
          </a:solidFill>
          <a:ln w="6350">
            <a:solidFill>
              <a:srgbClr val="0D7C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39696"/>
            <a:ext cx="548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7C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✔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70432" y="223113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API key Anthropic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70432" y="2523744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claude-sonnet-4-20250514 · variable ANTHROPIC_API_KEY en .env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2980944"/>
            <a:ext cx="81381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980944"/>
            <a:ext cx="548640" cy="749808"/>
          </a:xfrm>
          <a:prstGeom prst="rect">
            <a:avLst/>
          </a:prstGeom>
          <a:solidFill>
            <a:srgbClr val="FDF3E3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980944"/>
            <a:ext cx="548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⚙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70432" y="307238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Bot Telegram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70432" y="3364992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Crear bot con @BotFather · anotar token · configurar TELEGRAM_ALLOWED_CHAT_IDS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3822192"/>
            <a:ext cx="81381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822192"/>
            <a:ext cx="548640" cy="749808"/>
          </a:xfrm>
          <a:prstGeom prst="rect">
            <a:avLst/>
          </a:prstGeom>
          <a:solidFill>
            <a:srgbClr val="FDF3E3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822192"/>
            <a:ext cx="548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⚙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70432" y="39136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Google Service Account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70432" y="420624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Google Cloud Console · crear cuenta · compartir Sheet con email del SA (rol Editor)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" y="48463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B9B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© 2025 Bernardo Ronquillo Japón · COIIAOC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32104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50" kern="0" dirty="0">
                <a:solidFill>
                  <a:srgbClr val="C251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DOS TRACKS · UNA MISMA LÓGICA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Track A vs Track B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406908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406908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3502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8C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TRACK A · OFICIAL COIIAOC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n8n + Claude API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58368" y="226771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C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✔  </a:t>
            </a:r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Todos los módulos II1–II6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268833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C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✔  </a:t>
            </a:r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Workflows importables listos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" y="31089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C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✔  </a:t>
            </a:r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Google Sheets · Telegram · SMTP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" y="352958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C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✔  </a:t>
            </a:r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 código Python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39502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C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✔  </a:t>
            </a:r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Evaluable · criterio de aceptación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298448"/>
            <a:ext cx="397764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298448"/>
            <a:ext cx="3977640" cy="347472"/>
          </a:xfrm>
          <a:prstGeom prst="rect">
            <a:avLst/>
          </a:prstGeom>
          <a:solidFill>
            <a:srgbClr val="4A6B7A"/>
          </a:solidFill>
          <a:ln w="12700">
            <a:solidFill>
              <a:srgbClr val="4A6B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33502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TRACK B · ALTERNATIVA DOCUMENTADA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846320" y="17830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6B7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Python / nanobot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864608" y="226771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6B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Módulos II5 + II6 como alternativa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64608" y="268833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6B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nanobot_verbex.py · validación cruzada 8/8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64608" y="31089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6B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Mismo output que workflow n8n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64608" y="352958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6B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requiere cuenta Anthropic API separada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64608" y="395020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6B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evaluable · complementario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48463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B9B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© 2025 Bernardo Ronquillo Japón · COIIAOC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32104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8C3B"/>
          </a:solidFill>
          <a:ln w="12700">
            <a:solidFill>
              <a:srgbClr val="FF8C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50" kern="0" dirty="0">
                <a:solidFill>
                  <a:srgbClr val="FF8C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CIERRE · PARTE 2 COIIAOC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8138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¿Puede un ingeniero industrial construir software agéntico de valor real sin un equipo de desarrollo?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2359152"/>
            <a:ext cx="8138160" cy="530352"/>
          </a:xfrm>
          <a:prstGeom prst="rect">
            <a:avLst/>
          </a:prstGeom>
          <a:solidFill>
            <a:srgbClr val="0D2A45"/>
          </a:solidFill>
          <a:ln w="6350">
            <a:solidFill>
              <a:srgbClr val="FF8C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468880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B0C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La respuesta que demostramos en 6 sesiones:</a:t>
            </a:r>
            <a:pPr indent="0" marL="0">
              <a:buNone/>
            </a:pPr>
            <a:r>
              <a:rPr lang="en-US" sz="1800" b="1" dirty="0">
                <a:solidFill>
                  <a:srgbClr val="FF8C3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 Sí.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3090672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B0C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 Con las herramientas correctas (n8n + Claude API)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3474720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B0C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 Con la arquitectura correcta (E5 invariante)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3858768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B0C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 Con la disciplina de no pedirle al LLM lo que no le corresponde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48463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© 2025 Bernardo Ronquillo Japón · COIIAOC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32104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8C3B"/>
          </a:solidFill>
          <a:ln w="12700">
            <a:solidFill>
              <a:srgbClr val="FF8C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50" kern="0" dirty="0">
                <a:solidFill>
                  <a:srgbClr val="FF8C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PRÓXIMA SESIÓN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II1 — Ingesta Multicanal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138988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C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Percibir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566928" cy="566928"/>
          </a:xfrm>
          <a:prstGeom prst="ellipse">
            <a:avLst/>
          </a:prstGeom>
          <a:solidFill>
            <a:srgbClr val="FF8C3B"/>
          </a:solidFill>
          <a:ln w="12700">
            <a:solidFill>
              <a:srgbClr val="FF8C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8745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07008" y="18745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Configurar webhook Telegram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07008" y="2148840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B0C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Bot activo · chat_id autorizado · primer mensaje recibido en n8n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834640"/>
            <a:ext cx="566928" cy="566928"/>
          </a:xfrm>
          <a:prstGeom prst="ellipse">
            <a:avLst/>
          </a:prstGeom>
          <a:solidFill>
            <a:srgbClr val="FF8C3B"/>
          </a:solidFill>
          <a:ln w="12700">
            <a:solidFill>
              <a:srgbClr val="FF8C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8346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07008" y="283464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Montar el detector de canal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07008" y="3108960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B0C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Heurística sobre estructura del texto: email_pdf · helionlink_csv · portal_web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794760"/>
            <a:ext cx="566928" cy="566928"/>
          </a:xfrm>
          <a:prstGeom prst="ellipse">
            <a:avLst/>
          </a:prstGeom>
          <a:solidFill>
            <a:srgbClr val="FF8C3B"/>
          </a:solidFill>
          <a:ln w="12700">
            <a:solidFill>
              <a:srgbClr val="FF8C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7947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07008" y="379476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Primera PO normalizada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07008" y="4069080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B0C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payload_01_po_estandar.txt → canal detectado → JSON de salida → siguiente capa lista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0" y="484632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8C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workflow_II1.json · 4 nodos · importable directamente en n8n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48463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© 2025 Bernardo Ronquillo Japón · COIIAOC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32104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 / 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Parte 2 — Arquitectura y Desarrollo de un Agente IA Industrial</dc:title>
  <dc:subject>PptxGenJS Presentation</dc:subject>
  <dc:creator>Bernardo Ronquillo Japón</dc:creator>
  <cp:lastModifiedBy>Bernardo Ronquillo Japón</cp:lastModifiedBy>
  <cp:revision>1</cp:revision>
  <dcterms:created xsi:type="dcterms:W3CDTF">2026-05-12T07:23:02Z</dcterms:created>
  <dcterms:modified xsi:type="dcterms:W3CDTF">2026-05-12T07:23:02Z</dcterms:modified>
</cp:coreProperties>
</file>