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F4D4F6-5286-4D94-B05D-70CB17306680}" v="23" dt="2026-04-03T18:19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15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Orquestación</a:t>
            </a: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Avanzada</a:t>
            </a: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n8n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</a:t>
            </a:r>
            <a:r>
              <a:rPr lang="en-US" sz="1500" dirty="0" err="1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r>
              <a:rPr lang="en-US" sz="15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Lineal a un Sistema de </a:t>
            </a:r>
            <a:r>
              <a:rPr lang="en-US" sz="1500" dirty="0" err="1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r>
              <a:rPr lang="en-US" sz="15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0" y="3657600"/>
            <a:ext cx="2286000" cy="347472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TRACKS A Y 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3657600"/>
            <a:ext cx="2286000" cy="347472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4632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ZAPIER → N8N</a:t>
            </a:r>
            <a:endParaRPr lang="en-US" sz="9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1BE5BC54-BF5D-DE1B-CF83-42D750922AC6}"/>
              </a:ext>
            </a:extLst>
          </p:cNvPr>
          <p:cNvSpPr/>
          <p:nvPr/>
        </p:nvSpPr>
        <p:spPr>
          <a:xfrm>
            <a:off x="2286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· COIIAOC</a:t>
            </a:r>
            <a:endParaRPr lang="en-US" sz="75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32FD6529-7637-56AD-0D19-767B2C4F3039}"/>
              </a:ext>
            </a:extLst>
          </p:cNvPr>
          <p:cNvSpPr/>
          <p:nvPr/>
        </p:nvSpPr>
        <p:spPr>
          <a:xfrm>
            <a:off x="228600" y="566928"/>
            <a:ext cx="960120" cy="237744"/>
          </a:xfrm>
          <a:prstGeom prst="rect">
            <a:avLst/>
          </a:prstGeom>
          <a:solidFill>
            <a:srgbClr val="FF8C3B">
              <a:alpha val="85000"/>
            </a:srgbClr>
          </a:solidFill>
          <a:ln w="9525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33EA402F-81C6-8C3F-8A7D-737856023A84}"/>
              </a:ext>
            </a:extLst>
          </p:cNvPr>
          <p:cNvSpPr/>
          <p:nvPr/>
        </p:nvSpPr>
        <p:spPr>
          <a:xfrm>
            <a:off x="228600" y="56692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4</a:t>
            </a:r>
            <a:endParaRPr lang="en-US" sz="750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E325B2-2E7E-38F3-BDCD-EB8B95942DFB}"/>
              </a:ext>
            </a:extLst>
          </p:cNvPr>
          <p:cNvGrpSpPr/>
          <p:nvPr/>
        </p:nvGrpSpPr>
        <p:grpSpPr>
          <a:xfrm>
            <a:off x="228600" y="3674886"/>
            <a:ext cx="1280160" cy="292608"/>
            <a:chOff x="320040" y="3794760"/>
            <a:chExt cx="1280160" cy="292608"/>
          </a:xfrm>
        </p:grpSpPr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9755927E-2094-DE55-9734-7206F529DCBE}"/>
                </a:ext>
              </a:extLst>
            </p:cNvPr>
            <p:cNvSpPr/>
            <p:nvPr/>
          </p:nvSpPr>
          <p:spPr>
            <a:xfrm>
              <a:off x="320040" y="3794760"/>
              <a:ext cx="1280160" cy="292608"/>
            </a:xfrm>
            <a:prstGeom prst="rect">
              <a:avLst/>
            </a:prstGeom>
            <a:solidFill>
              <a:srgbClr val="FF8C3B">
                <a:alpha val="80000"/>
              </a:srgbClr>
            </a:solidFill>
            <a:ln w="9525">
              <a:solidFill>
                <a:srgbClr val="FF8C3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D64D643F-3FE1-2C9C-2B30-D86126EDC866}"/>
                </a:ext>
              </a:extLst>
            </p:cNvPr>
            <p:cNvSpPr/>
            <p:nvPr/>
          </p:nvSpPr>
          <p:spPr>
            <a:xfrm>
              <a:off x="320040" y="3794760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2.5 HORAS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 de la </a:t>
            </a:r>
            <a:r>
              <a:rPr lang="en-US" sz="2200" b="1" dirty="0" err="1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14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E1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un flujo a un sistema</a:t>
            </a:r>
            <a:endParaRPr lang="en-US" sz="14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8F7AB64-4F35-56AA-DF3E-D97FFFDF505F}"/>
              </a:ext>
            </a:extLst>
          </p:cNvPr>
          <p:cNvGrpSpPr/>
          <p:nvPr/>
        </p:nvGrpSpPr>
        <p:grpSpPr>
          <a:xfrm>
            <a:off x="1005840" y="2350008"/>
            <a:ext cx="2834640" cy="2066544"/>
            <a:chOff x="1435608" y="2350008"/>
            <a:chExt cx="2834640" cy="2066544"/>
          </a:xfrm>
        </p:grpSpPr>
        <p:sp>
          <p:nvSpPr>
            <p:cNvPr id="13" name="Text 11"/>
            <p:cNvSpPr/>
            <p:nvPr/>
          </p:nvSpPr>
          <p:spPr>
            <a:xfrm>
              <a:off x="1435608" y="2350008"/>
              <a:ext cx="2834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Teoría: el problema de la concurrencia</a:t>
              </a:r>
              <a:endParaRPr lang="en-US" sz="10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35608" y="2807208"/>
              <a:ext cx="2834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Taller IO/RE extendido — diagrama primero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435608" y="3264408"/>
              <a:ext cx="2834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A: Zapier — routing + fan-out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35608" y="3721608"/>
              <a:ext cx="2834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B: nanobot — coordinador + ejecutores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435608" y="4178808"/>
              <a:ext cx="2834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Comparativa Zapier vs n8n</a:t>
              </a:r>
              <a:endParaRPr lang="en-US" sz="1000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4754880" y="141732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54880" y="1417320"/>
            <a:ext cx="4114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9204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E2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como plataforma de orquestación</a:t>
            </a:r>
            <a:endParaRPr lang="en-US" sz="14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0CB4BF1-E525-58C6-D7A2-ECC91E42398C}"/>
              </a:ext>
            </a:extLst>
          </p:cNvPr>
          <p:cNvGrpSpPr/>
          <p:nvPr/>
        </p:nvGrpSpPr>
        <p:grpSpPr>
          <a:xfrm>
            <a:off x="5700268" y="2350008"/>
            <a:ext cx="2834640" cy="2066544"/>
            <a:chOff x="5916168" y="2350008"/>
            <a:chExt cx="2834640" cy="2066544"/>
          </a:xfrm>
        </p:grpSpPr>
        <p:sp>
          <p:nvSpPr>
            <p:cNvPr id="32" name="Text 30"/>
            <p:cNvSpPr/>
            <p:nvPr/>
          </p:nvSpPr>
          <p:spPr>
            <a:xfrm>
              <a:off x="5916168" y="2350008"/>
              <a:ext cx="2834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Transición: el mismo flujo en n8n</a:t>
              </a:r>
              <a:endParaRPr lang="en-US" sz="10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5916168" y="2807208"/>
              <a:ext cx="2834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A: n8n — Switch, fan-out, sub-workflow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5916168" y="3264408"/>
              <a:ext cx="2834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B: MEMORY.md compartido + errores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5916168" y="3721608"/>
              <a:ext cx="2834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Demo </a:t>
              </a:r>
              <a:r>
                <a:rPr lang="en-US" sz="1000" dirty="0" err="1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cruzada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916168" y="4178808"/>
              <a:ext cx="2834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 err="1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Simulador</a:t>
              </a: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+ </a:t>
              </a:r>
              <a:r>
                <a:rPr lang="en-US" sz="1000" i="1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bridge</a:t>
              </a:r>
              <a:r>
                <a:rPr lang="en-US" sz="1000" dirty="0">
                  <a:solidFill>
                    <a:srgbClr val="1C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I5</a:t>
              </a:r>
              <a:endParaRPr lang="en-US" sz="1000" dirty="0"/>
            </a:p>
          </p:txBody>
        </p:sp>
      </p:grp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83464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PLANTEAMIENTO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problema: dos alertas, un sistema, 40 minutos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I4 — nuevo nivel de complejidad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365760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L-04</a:t>
            </a:r>
            <a:r>
              <a:rPr lang="en-US" sz="1100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ACTIVA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491°C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Límite: 450°C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alerta: 18 min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286000"/>
            <a:ext cx="411480" cy="4114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206240" y="1783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4206240" y="1783080"/>
            <a:ext cx="365760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434340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L-07</a:t>
            </a:r>
            <a:r>
              <a:rPr lang="en-US" sz="1100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NUEVA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43400" y="2286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467°C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434340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Límite: 450°C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3434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alerta: 4 min</a:t>
            </a:r>
            <a:endParaRPr lang="en-US" sz="10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28600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4164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3600" dirty="0"/>
          </a:p>
        </p:txBody>
      </p:sp>
      <p:sp>
        <p:nvSpPr>
          <p:cNvPr id="23" name="Shape 19"/>
          <p:cNvSpPr/>
          <p:nvPr/>
        </p:nvSpPr>
        <p:spPr>
          <a:xfrm>
            <a:off x="7955280" y="1783080"/>
            <a:ext cx="9144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0"/>
          <p:cNvSpPr/>
          <p:nvPr/>
        </p:nvSpPr>
        <p:spPr>
          <a:xfrm>
            <a:off x="795528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
rompe?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1E3A5F">
              <a:alpha val="8000"/>
            </a:srgbClr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2"/>
          <p:cNvSpPr/>
          <p:nvPr/>
        </p:nvSpPr>
        <p:spPr>
          <a:xfrm>
            <a:off x="274320" y="3931920"/>
            <a:ext cx="54864" cy="86868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457200" y="397764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lineal gestiona un </a:t>
            </a:r>
            <a:r>
              <a:rPr lang="en-US" sz="11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100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orquestación gestiona un </a:t>
            </a:r>
            <a:r>
              <a:rPr lang="en-US" sz="11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100" dirty="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 alertas </a:t>
            </a:r>
            <a:r>
              <a:rPr lang="en-US" sz="11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simultáneas</a:t>
            </a: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 canales de notificación y 40 min de </a:t>
            </a:r>
            <a:r>
              <a:rPr lang="en-US" sz="11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TEORÍA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patrones de orquestación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64008" cy="160020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29768" y="1600200"/>
            <a:ext cx="347472" cy="256032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591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Secuencial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193852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espera al anterior.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predecible, frágil ante fallos.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617720" y="1463040"/>
            <a:ext cx="64008" cy="1600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773168" y="1600200"/>
            <a:ext cx="347472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773168" y="16002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0" y="1591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Condicional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82312" y="193852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se ramifica según una regla.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una rama se ejecuta (Switch).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64008" cy="160020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29768" y="3383280"/>
            <a:ext cx="347472" cy="256032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29768" y="33832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33741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Paralelo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" y="372160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ramas corren simultáneamente.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opcional al final.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246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617720" y="3246120"/>
            <a:ext cx="64008" cy="160020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73168" y="3383280"/>
            <a:ext cx="347472" cy="256032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773168" y="33832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33741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Sub-workflow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82312" y="372160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nodo llama a otro flujo completo.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 y encapsulación.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828032"/>
            <a:ext cx="859536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65760" y="48280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 err="1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Aplicaremos</a:t>
            </a:r>
            <a:r>
              <a:rPr lang="en-US" sz="900" b="1" kern="0" spc="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b="1" kern="0" spc="50" dirty="0" err="1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</a:t>
            </a:r>
            <a:r>
              <a:rPr lang="en-US" sz="900" b="1" kern="0" spc="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4 </a:t>
            </a:r>
            <a:r>
              <a:rPr lang="en-US" sz="900" b="1" kern="0" spc="50" dirty="0" err="1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900" b="1" kern="0" spc="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Zapier y </a:t>
            </a:r>
            <a:r>
              <a:rPr lang="en-US" sz="900" b="1" kern="0" spc="50" dirty="0" err="1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900" b="1" kern="0" spc="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n8n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· IO/RE EXTENDIDO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escenario: 2 alertas simultáneas, 3 canales de salida, regla de prioridad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1188720" cy="68580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1737360"/>
            <a:ext cx="7360920" cy="685800"/>
          </a:xfrm>
          <a:prstGeom prst="rect">
            <a:avLst/>
          </a:prstGeom>
          <a:solidFill>
            <a:srgbClr val="2E6B9E">
              <a:alpha val="8000"/>
            </a:srgbClr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600200" y="1737360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L-04: T=491°C, 18 min activa     ·     Alerta L-07: T=467°C, 4 min activa     ·     Turno cierra en 40 </a:t>
            </a:r>
            <a:r>
              <a:rPr lang="en-US" sz="9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r>
              <a:rPr lang="en-US" sz="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Sin notas de relevo previas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542032"/>
            <a:ext cx="1188720" cy="68580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74320" y="254203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08760" y="2542032"/>
            <a:ext cx="7360920" cy="685800"/>
          </a:xfrm>
          <a:prstGeom prst="rect">
            <a:avLst/>
          </a:prstGeom>
          <a:solidFill>
            <a:srgbClr val="0D7C5A">
              <a:alpha val="8000"/>
            </a:srgbClr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600200" y="2542032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GMAO con prioridad calculada     ·     Tarjeta Teams → supervisor de turno     ·     Informe PDF → ingeniería de planta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46704"/>
            <a:ext cx="1188720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74320" y="334670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08760" y="3346704"/>
            <a:ext cx="7360920" cy="685800"/>
          </a:xfrm>
          <a:prstGeom prst="rect">
            <a:avLst/>
          </a:prstGeom>
          <a:solidFill>
            <a:srgbClr val="B45309">
              <a:alpha val="8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600200" y="3346704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L-04 &gt; 30 min en alerta = prioridad CRÍTICA     ·     Dos alertas simultáneas → escalar a nivel 2     ·     Notificar SIEMPRE antes de cerrar turno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51376"/>
            <a:ext cx="1188720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74320" y="415137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EXCEPCIONES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08760" y="4151376"/>
            <a:ext cx="7360920" cy="685800"/>
          </a:xfrm>
          <a:prstGeom prst="rect">
            <a:avLst/>
          </a:prstGeom>
          <a:solidFill>
            <a:srgbClr val="B91C1C">
              <a:alpha val="8000"/>
            </a:srgbClr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600200" y="4151376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GMAO no responde → fallback email     ·     Sin supervisor disponible → contactar guardia     ·     Error en PDF → enviar datos en texto plano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TAREA→ </a:t>
            </a:r>
            <a:r>
              <a:rPr lang="en-US" sz="900" b="1" i="1" dirty="0" err="1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completar</a:t>
            </a:r>
            <a:r>
              <a:rPr lang="en-US" sz="900" b="1" i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la tabla y dibujar el flujo de </a:t>
            </a:r>
            <a:r>
              <a:rPr lang="en-US" sz="900" b="1" i="1" dirty="0" err="1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orquestación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0" y="27432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FFFFF">
                    <a:alpha val="8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E1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411480" y="365760"/>
            <a:ext cx="2926080" cy="2743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11480" y="365760"/>
            <a:ext cx="292608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E1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un </a:t>
            </a: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un Sistema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A: Zapier    ·     Track B: </a:t>
            </a:r>
            <a:r>
              <a:rPr lang="en-US" sz="1400" dirty="0" err="1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NanoBot</a:t>
            </a:r>
            <a:r>
              <a:rPr lang="en-US" sz="14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coordinador + ejecutores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A · PARTE E1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37033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Zapier — routing condicional y </a:t>
            </a:r>
            <a:r>
              <a:rPr lang="en-US" sz="2200" b="1" i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fan-out</a:t>
            </a: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notificaciones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1752" y="1062003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644652"/>
            <a:ext cx="384047" cy="3840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2002457"/>
            <a:ext cx="1463040" cy="82296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274320" y="2002457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Webhook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57400" y="2002457"/>
            <a:ext cx="146304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2057400" y="2002457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Prioridad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362377"/>
            <a:ext cx="1463040" cy="82296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297680" y="1362377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GMAO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7680" y="2413937"/>
            <a:ext cx="1463040" cy="82296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4297680" y="2413937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97680" y="3465497"/>
            <a:ext cx="1463040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4297680" y="3465497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Fallback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92240" y="2002457"/>
            <a:ext cx="1463040" cy="82296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492240" y="2002457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737360" y="2413937"/>
            <a:ext cx="320040" cy="0"/>
          </a:xfrm>
          <a:prstGeom prst="line">
            <a:avLst/>
          </a:prstGeom>
          <a:noFill/>
          <a:ln w="15240">
            <a:solidFill>
              <a:srgbClr val="9B9B9B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3520440" y="1362377"/>
            <a:ext cx="777240" cy="0"/>
          </a:xfrm>
          <a:prstGeom prst="line">
            <a:avLst/>
          </a:prstGeom>
          <a:noFill/>
          <a:ln w="15240">
            <a:solidFill>
              <a:srgbClr val="9B9B9B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3520440" y="2413937"/>
            <a:ext cx="777240" cy="0"/>
          </a:xfrm>
          <a:prstGeom prst="line">
            <a:avLst/>
          </a:prstGeom>
          <a:noFill/>
          <a:ln w="15240">
            <a:solidFill>
              <a:srgbClr val="9B9B9B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3520440" y="3465497"/>
            <a:ext cx="777240" cy="0"/>
          </a:xfrm>
          <a:prstGeom prst="line">
            <a:avLst/>
          </a:prstGeom>
          <a:noFill/>
          <a:ln w="15240">
            <a:solidFill>
              <a:srgbClr val="9B9B9B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5760720" y="2413937"/>
            <a:ext cx="731520" cy="0"/>
          </a:xfrm>
          <a:prstGeom prst="line">
            <a:avLst/>
          </a:prstGeom>
          <a:noFill/>
          <a:ln w="15240">
            <a:solidFill>
              <a:srgbClr val="9B9B9B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6054634" y="110965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kern="0" spc="100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Fan-out paralelo</a:t>
            </a:r>
            <a:endParaRPr lang="en-US" sz="8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7723EB2-B33D-CD91-085A-9AEF461A7C91}"/>
              </a:ext>
            </a:extLst>
          </p:cNvPr>
          <p:cNvGrpSpPr/>
          <p:nvPr/>
        </p:nvGrpSpPr>
        <p:grpSpPr>
          <a:xfrm>
            <a:off x="344859" y="4379785"/>
            <a:ext cx="8595360" cy="698426"/>
            <a:chOff x="274320" y="3913632"/>
            <a:chExt cx="8595360" cy="932688"/>
          </a:xfrm>
        </p:grpSpPr>
        <p:sp>
          <p:nvSpPr>
            <p:cNvPr id="26" name="Shape 23"/>
            <p:cNvSpPr/>
            <p:nvPr/>
          </p:nvSpPr>
          <p:spPr>
            <a:xfrm>
              <a:off x="274320" y="3913632"/>
              <a:ext cx="8595360" cy="932688"/>
            </a:xfrm>
            <a:prstGeom prst="rect">
              <a:avLst/>
            </a:prstGeom>
            <a:solidFill>
              <a:srgbClr val="F5F2EC"/>
            </a:solidFill>
            <a:ln w="12700">
              <a:solidFill>
                <a:srgbClr val="E8E3D8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Shape 24"/>
            <p:cNvSpPr/>
            <p:nvPr/>
          </p:nvSpPr>
          <p:spPr>
            <a:xfrm>
              <a:off x="274320" y="3913632"/>
              <a:ext cx="54864" cy="932688"/>
            </a:xfrm>
            <a:prstGeom prst="rect">
              <a:avLst/>
            </a:prstGeom>
            <a:solidFill>
              <a:srgbClr val="B45309"/>
            </a:solidFill>
            <a:ln w="12700">
              <a:solidFill>
                <a:srgbClr val="B45309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 25"/>
            <p:cNvSpPr/>
            <p:nvPr/>
          </p:nvSpPr>
          <p:spPr>
            <a:xfrm>
              <a:off x="411480" y="3977640"/>
              <a:ext cx="1188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411480" y="4031996"/>
              <a:ext cx="8229600" cy="7503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000" b="1" dirty="0">
                  <a:solidFill>
                    <a:srgbClr val="B45309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Nota:</a:t>
              </a:r>
              <a:r>
                <a:rPr lang="en-US" sz="1000" b="1" dirty="0"/>
                <a:t> </a:t>
              </a:r>
              <a:r>
                <a:rPr lang="en-US" sz="10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 Zapier el </a:t>
              </a:r>
              <a:r>
                <a:rPr lang="en-US" sz="10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fan-out </a:t>
              </a:r>
              <a:r>
                <a:rPr lang="en-US" sz="10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 consigue con rutas (paths)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Funciona</a:t>
              </a:r>
              <a:r>
                <a:rPr lang="en-US" sz="10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para este escenario, pero el error handling es manual y los sub-workflows no son </a:t>
              </a:r>
              <a:r>
                <a:rPr lang="en-US" sz="1000" dirty="0" err="1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nativos</a:t>
              </a:r>
              <a:r>
                <a:rPr lang="en-US" sz="10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Observa</a:t>
              </a:r>
              <a:r>
                <a:rPr lang="en-US" sz="10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estas limitaciones — las resolveremos en el E2 con n8n.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B · PARTE E1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NanoBot</a:t>
            </a: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Coordinador + Ejecutores especializados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640080"/>
            <a:ext cx="685800" cy="685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508760"/>
            <a:ext cx="256032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459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COORDINADOR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65760" y="25146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ambas alertas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prioridad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ejecutores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MEMORY.md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0" y="150876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C5A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4572000" y="1508760"/>
            <a:ext cx="64008" cy="109728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/>
          <p:nvPr/>
        </p:nvSpPr>
        <p:spPr>
          <a:xfrm>
            <a:off x="4736592" y="16002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EJECUTOR GMAO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36592" y="189280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ticket con prioridad calculada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 MEMORY.md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0" y="288036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4572000" y="2880360"/>
            <a:ext cx="64008" cy="109728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4736592" y="2971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EJECUTOR NOTIF.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36592" y="326440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Teams + fallback 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 MEMORY.md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572000" y="4114800"/>
            <a:ext cx="4297680" cy="658368"/>
          </a:xfrm>
          <a:prstGeom prst="rect">
            <a:avLst/>
          </a:prstGeom>
          <a:solidFill>
            <a:srgbClr val="F5F2EC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187952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20640" y="416966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MEMORY.md compartido — estado global accesible por todos los agentes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120640" y="451713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alert_L04, alert_L07, prioridad, gmao_status, teams_status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2834640" y="2057400"/>
            <a:ext cx="1737360" cy="0"/>
          </a:xfrm>
          <a:prstGeom prst="line">
            <a:avLst/>
          </a:prstGeom>
          <a:noFill/>
          <a:ln w="19050">
            <a:solidFill>
              <a:srgbClr val="FF8C3B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0"/>
          <p:cNvSpPr/>
          <p:nvPr/>
        </p:nvSpPr>
        <p:spPr>
          <a:xfrm>
            <a:off x="2834640" y="2697480"/>
            <a:ext cx="1737360" cy="685800"/>
          </a:xfrm>
          <a:prstGeom prst="line">
            <a:avLst/>
          </a:prstGeom>
          <a:noFill/>
          <a:ln w="19050">
            <a:solidFill>
              <a:srgbClr val="FF8C3B"/>
            </a:solidFill>
            <a:prstDash val="sysDash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 E1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Zapier a n8n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74320" y="1719072"/>
            <a:ext cx="2423160" cy="3474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Capacidad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719072"/>
            <a:ext cx="2240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Zapier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1719072"/>
            <a:ext cx="24231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0" y="1719072"/>
            <a:ext cx="1600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066544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20665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Sub-workflows nativos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2066544"/>
            <a:ext cx="21945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2066544"/>
            <a:ext cx="2423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 (Execute Workflow)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16368" y="206654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8595360" cy="47548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84048" y="2560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propio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2560320"/>
            <a:ext cx="21945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Básico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2560320"/>
            <a:ext cx="2423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Error Trigger + ramas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16368" y="256032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054096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84048" y="30540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paralelo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0" y="3054096"/>
            <a:ext cx="21945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Paths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3054096"/>
            <a:ext cx="2423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Branches sin límite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16368" y="305409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547872"/>
            <a:ext cx="8595360" cy="475488"/>
          </a:xfrm>
          <a:prstGeom prst="rect">
            <a:avLst/>
          </a:prstGeom>
          <a:solidFill>
            <a:srgbClr val="FAFAF7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84048" y="35478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por operación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0" y="3547872"/>
            <a:ext cx="21945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Por tarea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3547872"/>
            <a:ext cx="2423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Self-hosted gratis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16368" y="35478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04164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384048" y="40416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en tiempo real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43200" y="4041648"/>
            <a:ext cx="21945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Limitado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0" y="4041648"/>
            <a:ext cx="2423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Execution log completo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516368" y="404164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0" y="27432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FFFFF">
                    <a:alpha val="8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411480" y="365760"/>
            <a:ext cx="2926080" cy="2743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11480" y="365760"/>
            <a:ext cx="292608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</a:t>
            </a: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</a:t>
            </a: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Plataforma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</a:t>
            </a: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Orquestación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r>
              <a:rPr lang="en-US" sz="14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     ·     Error handling real     ·     Sub-workflows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E2 · TRANSICIÓN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Mismo</a:t>
            </a: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</a:t>
            </a: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E1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11480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Zapier (E1)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212848"/>
            <a:ext cx="237744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38912" y="2212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" y="22311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→ Paths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834640"/>
            <a:ext cx="237744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38912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" y="28529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paso manual extra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456432"/>
            <a:ext cx="237744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38912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" y="3474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Sub-workflow: no existe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4078224"/>
            <a:ext cx="237744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38912" y="4078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" y="40965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Coste: por operación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719072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C5A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663440" y="1719072"/>
            <a:ext cx="4114800" cy="384048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800600" y="1719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(E2)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28032" y="2212848"/>
            <a:ext cx="237744" cy="237744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28032" y="2212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57216" y="22311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→ Switch node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28032" y="2834640"/>
            <a:ext cx="237744" cy="237744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828032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57216" y="28529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integrado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28032" y="3456432"/>
            <a:ext cx="237744" cy="237744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28032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57216" y="3474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 node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28032" y="4078224"/>
            <a:ext cx="237744" cy="237744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828032" y="4078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57216" y="40965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Self-hosted: sin coste</a:t>
            </a:r>
            <a:endParaRPr lang="en-US" sz="11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96265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A · N8N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— Nodos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640080"/>
            <a:ext cx="685800" cy="685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4173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274320" y="1417320"/>
            <a:ext cx="64008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38912" y="1545336"/>
            <a:ext cx="1828800" cy="237744"/>
          </a:xfrm>
          <a:prstGeom prst="rect">
            <a:avLst/>
          </a:prstGeom>
          <a:solidFill>
            <a:srgbClr val="B45309">
              <a:alpha val="15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38912" y="15453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condicional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8912" y="18288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8912" y="21488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una expresión y dirige el flujo a una de N ramas. Reemplaza el Filter + Paths de Zapier con una lógica clara y auditable.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14173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64008" cy="146304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4828032" y="1545336"/>
            <a:ext cx="1828800" cy="237744"/>
          </a:xfrm>
          <a:prstGeom prst="rect">
            <a:avLst/>
          </a:prstGeom>
          <a:solidFill>
            <a:srgbClr val="2E6B9E">
              <a:alpha val="15000"/>
            </a:srgbClr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4828032" y="15453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Sub-workflow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28032" y="18288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 Workflow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28032" y="21488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al flujo L-04 construido en I3 como un nodo reutilizable. Encapsulación real: el sub-flujo puede evolucionar sin tocar el orquestador.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306324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274320" y="3063240"/>
            <a:ext cx="64008" cy="1463040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438912" y="3191256"/>
            <a:ext cx="1828800" cy="237744"/>
          </a:xfrm>
          <a:prstGeom prst="rect">
            <a:avLst/>
          </a:prstGeom>
          <a:solidFill>
            <a:srgbClr val="C2510A">
              <a:alpha val="15000"/>
            </a:srgbClr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438912" y="31912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Branches simultáneas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38912" y="34747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Fan-out paralelo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38912" y="37947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Switch, tres ramas (GMAO, Teams, PDF) se ejecutan en paralelo. Merge opcional con el nodo Merge si necesitas esperar a todas.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306324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4663440" y="3063240"/>
            <a:ext cx="64008" cy="1463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4828032" y="3191256"/>
            <a:ext cx="1828800" cy="237744"/>
          </a:xfrm>
          <a:prstGeom prst="rect">
            <a:avLst/>
          </a:prstGeom>
          <a:solidFill>
            <a:srgbClr val="B91C1C">
              <a:alpha val="15000"/>
            </a:srgbClr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4828032" y="31912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Manejo de errores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28032" y="34747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Trigger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828032" y="37947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cualquier fallo en el flujo principal y ejecuta una ruta de fallback: email al supervisor + log en MEMORY.md.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PARITY MAP · A ↔ B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Equivalencia entre tracks — misma lógica, distinta sintaxis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8036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A · n8n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0" y="1417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B · nanobot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84048" y="1975104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4360" y="178308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condicional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80360" y="17830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Switch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17830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 en Coordinador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350008"/>
            <a:ext cx="8595360" cy="530352"/>
          </a:xfrm>
          <a:prstGeom prst="rect">
            <a:avLst/>
          </a:prstGeom>
          <a:solidFill>
            <a:srgbClr val="FAFAF7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84048" y="2542032"/>
            <a:ext cx="146304" cy="146304"/>
          </a:xfrm>
          <a:prstGeom prst="ellipse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94360" y="235000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paralela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80360" y="235000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sin merge inmediato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0" y="235000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async a Ejecutores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916936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84048" y="3108960"/>
            <a:ext cx="146304" cy="146304"/>
          </a:xfrm>
          <a:prstGeom prst="ellipse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94360" y="291693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Sub-workflow / módulo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80360" y="291693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 node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0" y="29169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/ agente encapsulado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483864"/>
            <a:ext cx="8595360" cy="530352"/>
          </a:xfrm>
          <a:prstGeom prst="rect">
            <a:avLst/>
          </a:prstGeom>
          <a:solidFill>
            <a:srgbClr val="FAFAF7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84048" y="3675888"/>
            <a:ext cx="146304" cy="146304"/>
          </a:xfrm>
          <a:prstGeom prst="ellipse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94360" y="3483864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compartido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80360" y="348386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Set / flow 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0" y="348386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compartido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050792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84048" y="4242816"/>
            <a:ext cx="146304" cy="14630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94360" y="405079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80360" y="405079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+ rama fallback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0" y="40507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+ log en MEMORY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CRUZADA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2860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 · Track A presenta primero · Track B responde con su implementación equivalente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9E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160520" cy="41148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A · n8n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764792"/>
            <a:ext cx="320040" cy="320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2450592"/>
            <a:ext cx="128016" cy="128016"/>
          </a:xfrm>
          <a:prstGeom prst="ellipse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76656" y="22677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flujo completo en n8n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017520"/>
            <a:ext cx="128016" cy="128016"/>
          </a:xfrm>
          <a:prstGeom prst="ellipse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676656" y="28346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nodo Switch y las ramas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584448"/>
            <a:ext cx="128016" cy="128016"/>
          </a:xfrm>
          <a:prstGeom prst="ellipse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676656" y="34015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un test con L-04 + L-07 simultáneos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4151376"/>
            <a:ext cx="128016" cy="128016"/>
          </a:xfrm>
          <a:prstGeom prst="ellipse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76656" y="396849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 el Error Trigger en acción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1719072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C5A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4709160" y="1719072"/>
            <a:ext cx="4160520" cy="41148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484632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B · nanobot</a:t>
            </a:r>
            <a:endParaRPr lang="en-US" sz="11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764792"/>
            <a:ext cx="320040" cy="3200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892040" y="2450592"/>
            <a:ext cx="128016" cy="128016"/>
          </a:xfrm>
          <a:prstGeom prst="ellipse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5111496" y="22677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Coordinador + 2 Ejecutores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892040" y="3017520"/>
            <a:ext cx="128016" cy="128016"/>
          </a:xfrm>
          <a:prstGeom prst="ellipse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5111496" y="28346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MEMORY.md en tiempo real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892040" y="3584448"/>
            <a:ext cx="128016" cy="128016"/>
          </a:xfrm>
          <a:prstGeom prst="ellipse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5111496" y="34015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mismo escenario de test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892040" y="4151376"/>
            <a:ext cx="128016" cy="128016"/>
          </a:xfrm>
          <a:prstGeom prst="ellipse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7"/>
          <p:cNvSpPr/>
          <p:nvPr/>
        </p:nvSpPr>
        <p:spPr>
          <a:xfrm>
            <a:off x="5111496" y="396849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try/except de fallback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274320" y="4809744"/>
            <a:ext cx="8595360" cy="256032"/>
          </a:xfrm>
          <a:prstGeom prst="rect">
            <a:avLst/>
          </a:prstGeom>
          <a:solidFill>
            <a:srgbClr val="F5F2EC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29"/>
          <p:cNvSpPr/>
          <p:nvPr/>
        </p:nvSpPr>
        <p:spPr>
          <a:xfrm>
            <a:off x="274320" y="4809744"/>
            <a:ext cx="54864" cy="256032"/>
          </a:xfrm>
          <a:prstGeom prst="rect">
            <a:avLst/>
          </a:prstGeom>
          <a:solidFill>
            <a:srgbClr val="C2510A"/>
          </a:solidFill>
          <a:ln w="127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0"/>
          <p:cNvSpPr/>
          <p:nvPr/>
        </p:nvSpPr>
        <p:spPr>
          <a:xfrm>
            <a:off x="411480" y="48188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Debate: ¿cuándo conviene un solo flujo complejo (n8n) frente a varios agentes simples coordinados (nanobot)?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74320" y="256032"/>
            <a:ext cx="3200400" cy="2743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M6 · SIMULADOR EN VIVO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Simulador de Orquestación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L-04 + L-07 </a:t>
            </a:r>
            <a:r>
              <a:rPr lang="en-US" sz="220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tiempo real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901952"/>
            <a:ext cx="41148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9339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9019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 visible paso a paso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901952"/>
            <a:ext cx="41148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99339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47488" y="19019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animado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2404872"/>
            <a:ext cx="41148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9631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" y="24048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simulado + fallback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2404872"/>
            <a:ext cx="41148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49631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47488" y="24048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MEMORY.md en vivo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74320" y="3035808"/>
            <a:ext cx="8595360" cy="14813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4"/>
          <p:cNvSpPr/>
          <p:nvPr/>
        </p:nvSpPr>
        <p:spPr>
          <a:xfrm>
            <a:off x="457200" y="31272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PRDA ejecutándose en tiempo real con el escenario L-04 + L-07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</a:t>
            </a:r>
            <a:r>
              <a:rPr lang="en-US" sz="12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fallo </a:t>
            </a:r>
            <a:r>
              <a:rPr lang="en-US" sz="1200" dirty="0" err="1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GMAO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temperature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</a:t>
            </a:r>
            <a:r>
              <a:rPr lang="en-US" sz="12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alerta </a:t>
            </a:r>
            <a:r>
              <a:rPr lang="en-US" sz="1200" dirty="0" err="1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r>
              <a:rPr lang="en-US" sz="12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M6-simulador-orquestacion-L04-L07.html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74320" y="256032"/>
            <a:ext cx="2560320" cy="2743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256032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 SESIÓN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Hasta </a:t>
            </a:r>
            <a:r>
              <a:rPr lang="en-US" sz="1600" b="1" dirty="0" err="1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aquí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04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43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Orquestación condicional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+ fan-out paralelo en n8n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81051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Sub-workflows reutilizables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2057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L-04 de I3 como nodo llamable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4505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handling real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" y="26974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+ ruta de fallback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09067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" y="3063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Coordinación multi-agente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40080" y="333756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+ Ejecutores en nanobot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349240" y="685800"/>
            <a:ext cx="3520440" cy="3977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3"/>
          <p:cNvSpPr/>
          <p:nvPr/>
        </p:nvSpPr>
        <p:spPr>
          <a:xfrm>
            <a:off x="5349240" y="685800"/>
            <a:ext cx="3520440" cy="384048"/>
          </a:xfrm>
          <a:prstGeom prst="rect">
            <a:avLst/>
          </a:prstGeom>
          <a:solidFill>
            <a:srgbClr val="FF8C3B">
              <a:alpha val="20000"/>
            </a:srgbClr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4"/>
          <p:cNvSpPr/>
          <p:nvPr/>
        </p:nvSpPr>
        <p:spPr>
          <a:xfrm>
            <a:off x="5440680" y="6858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PUNTO CIEGO — SESIÓN 5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5440680" y="1170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memoria de un solo turno.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4068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ocurre cuando el agente vuelve a arrancar mañana?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¿Recuerda que L-04 lleva 3 días con anomalías?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¿Sabe que el turno B tiene una incidencia abierta?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44068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I5 · Memoria, Contexto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Persistencia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44068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siguiente →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0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1208</Words>
  <Application>Microsoft Office PowerPoint</Application>
  <PresentationFormat>On-screen Show (16:9)</PresentationFormat>
  <Paragraphs>266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I4 — Orquestación Avanzada con n8n · COIIAOC</dc:title>
  <dc:subject>PptxGenJS Presentation</dc:subject>
  <dc:creator>COIIAOC</dc:creator>
  <cp:lastModifiedBy>Bernardo Ronquillo Japón</cp:lastModifiedBy>
  <cp:revision>3</cp:revision>
  <dcterms:created xsi:type="dcterms:W3CDTF">2026-04-03T17:46:46Z</dcterms:created>
  <dcterms:modified xsi:type="dcterms:W3CDTF">2026-04-03T18:25:10Z</dcterms:modified>
</cp:coreProperties>
</file>