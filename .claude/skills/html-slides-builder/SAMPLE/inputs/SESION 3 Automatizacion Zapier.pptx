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3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3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11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286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DE PROCESOS · COIIAOC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228600" y="566928"/>
            <a:ext cx="960120" cy="237744"/>
          </a:xfrm>
          <a:prstGeom prst="rect">
            <a:avLst/>
          </a:prstGeom>
          <a:solidFill>
            <a:srgbClr val="FF8C3B">
              <a:alpha val="85000"/>
            </a:srgbClr>
          </a:solidFill>
          <a:ln w="9525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228600" y="56692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3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Automatización</a:t>
            </a: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Lineal con 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8C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Zapier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30175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Conecta aplicaciones y automatiza flujos industriales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9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escribir una sola línea de código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3794760"/>
            <a:ext cx="1280160" cy="292608"/>
          </a:xfrm>
          <a:prstGeom prst="rect">
            <a:avLst/>
          </a:prstGeom>
          <a:solidFill>
            <a:srgbClr val="FF8C3B">
              <a:alpha val="80000"/>
            </a:srgbClr>
          </a:solidFill>
          <a:ln w="9525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20040" y="3794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 err="1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</a:t>
            </a:r>
            <a:r>
              <a:rPr lang="en-US" sz="8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I2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09360" y="530352"/>
            <a:ext cx="2834640" cy="4613148"/>
          </a:xfrm>
          <a:prstGeom prst="rect">
            <a:avLst/>
          </a:prstGeom>
          <a:solidFill>
            <a:srgbClr val="162E4D"/>
          </a:solidFill>
          <a:ln w="12700">
            <a:solidFill>
              <a:srgbClr val="162E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6766560" y="1097280"/>
            <a:ext cx="73152" cy="73152"/>
          </a:xfrm>
          <a:prstGeom prst="line">
            <a:avLst/>
          </a:prstGeom>
          <a:solidFill>
            <a:srgbClr val="FF8C3B">
              <a:alpha val="60000"/>
            </a:srgbClr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7406640" y="1645920"/>
            <a:ext cx="73152" cy="73152"/>
          </a:xfrm>
          <a:prstGeom prst="line">
            <a:avLst/>
          </a:prstGeom>
          <a:solidFill>
            <a:srgbClr val="FF8C3B">
              <a:alpha val="60000"/>
            </a:srgbClr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7132320" y="2286000"/>
            <a:ext cx="73152" cy="73152"/>
          </a:xfrm>
          <a:prstGeom prst="line">
            <a:avLst/>
          </a:prstGeom>
          <a:solidFill>
            <a:srgbClr val="FF8C3B">
              <a:alpha val="60000"/>
            </a:srgbClr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7772400" y="2834640"/>
            <a:ext cx="73152" cy="73152"/>
          </a:xfrm>
          <a:prstGeom prst="line">
            <a:avLst/>
          </a:prstGeom>
          <a:solidFill>
            <a:srgbClr val="FF8C3B">
              <a:alpha val="60000"/>
            </a:srgbClr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675120" y="3383280"/>
            <a:ext cx="73152" cy="73152"/>
          </a:xfrm>
          <a:prstGeom prst="line">
            <a:avLst/>
          </a:prstGeom>
          <a:solidFill>
            <a:srgbClr val="FF8C3B">
              <a:alpha val="60000"/>
            </a:srgbClr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7498080" y="3931920"/>
            <a:ext cx="73152" cy="73152"/>
          </a:xfrm>
          <a:prstGeom prst="line">
            <a:avLst/>
          </a:prstGeom>
          <a:solidFill>
            <a:srgbClr val="FF8C3B">
              <a:alpha val="60000"/>
            </a:srgbClr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309360" y="128016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</a:t>
            </a:r>
            <a:endParaRPr lang="en-US" sz="12000" dirty="0"/>
          </a:p>
        </p:txBody>
      </p:sp>
      <p:sp>
        <p:nvSpPr>
          <p:cNvPr id="18" name="Text 16"/>
          <p:cNvSpPr/>
          <p:nvPr/>
        </p:nvSpPr>
        <p:spPr>
          <a:xfrm>
            <a:off x="6309360" y="3383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ZAPIER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0" y="492404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de Procesos con Agentes Inteligentes · COIIAOC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6C36654-DC16-1274-6B2D-79751C0F10AA}"/>
              </a:ext>
            </a:extLst>
          </p:cNvPr>
          <p:cNvGrpSpPr/>
          <p:nvPr/>
        </p:nvGrpSpPr>
        <p:grpSpPr>
          <a:xfrm>
            <a:off x="320040" y="118872"/>
            <a:ext cx="475488" cy="256032"/>
            <a:chOff x="320040" y="118872"/>
            <a:chExt cx="475488" cy="256032"/>
          </a:xfrm>
        </p:grpSpPr>
        <p:sp>
          <p:nvSpPr>
            <p:cNvPr id="3" name="Shape 1"/>
            <p:cNvSpPr/>
            <p:nvPr/>
          </p:nvSpPr>
          <p:spPr>
            <a:xfrm>
              <a:off x="320040" y="118872"/>
              <a:ext cx="475488" cy="256032"/>
            </a:xfrm>
            <a:prstGeom prst="rect">
              <a:avLst/>
            </a:prstGeom>
            <a:solidFill>
              <a:srgbClr val="FF8C3B">
                <a:alpha val="85000"/>
              </a:srgbClr>
            </a:solidFill>
            <a:ln w="9525">
              <a:solidFill>
                <a:srgbClr val="FF8C3B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 2"/>
            <p:cNvSpPr/>
            <p:nvPr/>
          </p:nvSpPr>
          <p:spPr>
            <a:xfrm>
              <a:off x="320040" y="118872"/>
              <a:ext cx="47548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chemeClr val="bg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02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5" name="Text 3"/>
          <p:cNvSpPr/>
          <p:nvPr/>
        </p:nvSpPr>
        <p:spPr>
          <a:xfrm>
            <a:off x="877824" y="12801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DE LA SESIÓN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2860"/>
          </a:xfrm>
          <a:prstGeom prst="rect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0040" y="68580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haremos hoy?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39319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39319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2004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TEORÍA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4572000" y="1188720"/>
            <a:ext cx="4251960" cy="3291840"/>
          </a:xfrm>
          <a:prstGeom prst="rect">
            <a:avLst/>
          </a:prstGeom>
          <a:solidFill>
            <a:srgbClr val="1E3A5F"/>
          </a:solidFill>
          <a:ln w="9525">
            <a:solidFill>
              <a:srgbClr val="E8E3D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5"/>
          <p:cNvSpPr/>
          <p:nvPr/>
        </p:nvSpPr>
        <p:spPr>
          <a:xfrm>
            <a:off x="4572000" y="1188720"/>
            <a:ext cx="4251960" cy="45720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6"/>
          <p:cNvSpPr/>
          <p:nvPr/>
        </p:nvSpPr>
        <p:spPr>
          <a:xfrm>
            <a:off x="4572000" y="11887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PRÁCTICA</a:t>
            </a:r>
            <a:endParaRPr lang="en-US" sz="9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6212F4E-3AB8-096E-38CC-20D7BD390DFA}"/>
              </a:ext>
            </a:extLst>
          </p:cNvPr>
          <p:cNvGrpSpPr/>
          <p:nvPr/>
        </p:nvGrpSpPr>
        <p:grpSpPr>
          <a:xfrm>
            <a:off x="457200" y="2029968"/>
            <a:ext cx="8229600" cy="1682496"/>
            <a:chOff x="457200" y="2029968"/>
            <a:chExt cx="8229600" cy="1682496"/>
          </a:xfrm>
        </p:grpSpPr>
        <p:pic>
          <p:nvPicPr>
            <p:cNvPr id="1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2075688"/>
              <a:ext cx="164592" cy="164592"/>
            </a:xfrm>
            <a:prstGeom prst="rect">
              <a:avLst/>
            </a:prstGeom>
          </p:spPr>
        </p:pic>
        <p:sp>
          <p:nvSpPr>
            <p:cNvPr id="13" name="Text 10"/>
            <p:cNvSpPr/>
            <p:nvPr/>
          </p:nvSpPr>
          <p:spPr>
            <a:xfrm>
              <a:off x="685800" y="2029968"/>
              <a:ext cx="34290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C1C1C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Ecosistema No-Code: cuándo usar cada herramienta</a:t>
              </a:r>
              <a:endParaRPr lang="en-US" sz="950" dirty="0"/>
            </a:p>
          </p:txBody>
        </p:sp>
        <p:pic>
          <p:nvPicPr>
            <p:cNvPr id="14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2551176"/>
              <a:ext cx="164592" cy="164592"/>
            </a:xfrm>
            <a:prstGeom prst="rect">
              <a:avLst/>
            </a:prstGeom>
          </p:spPr>
        </p:pic>
        <p:sp>
          <p:nvSpPr>
            <p:cNvPr id="15" name="Text 11"/>
            <p:cNvSpPr/>
            <p:nvPr/>
          </p:nvSpPr>
          <p:spPr>
            <a:xfrm>
              <a:off x="685800" y="2505456"/>
              <a:ext cx="34290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C1C1C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Conceptos clave: Trigger y Action</a:t>
              </a:r>
              <a:endParaRPr lang="en-US" sz="950" dirty="0"/>
            </a:p>
          </p:txBody>
        </p:sp>
        <p:pic>
          <p:nvPicPr>
            <p:cNvPr id="16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3026664"/>
              <a:ext cx="164592" cy="164592"/>
            </a:xfrm>
            <a:prstGeom prst="rect">
              <a:avLst/>
            </a:prstGeom>
          </p:spPr>
        </p:pic>
        <p:sp>
          <p:nvSpPr>
            <p:cNvPr id="17" name="Text 12"/>
            <p:cNvSpPr/>
            <p:nvPr/>
          </p:nvSpPr>
          <p:spPr>
            <a:xfrm>
              <a:off x="685800" y="2980944"/>
              <a:ext cx="34290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C1C1C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Zapier en el contexto industrial</a:t>
              </a:r>
              <a:endParaRPr lang="en-US" sz="950" dirty="0"/>
            </a:p>
          </p:txBody>
        </p:sp>
        <p:pic>
          <p:nvPicPr>
            <p:cNvPr id="18" name="Image 3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3502152"/>
              <a:ext cx="164592" cy="164592"/>
            </a:xfrm>
            <a:prstGeom prst="rect">
              <a:avLst/>
            </a:prstGeom>
          </p:spPr>
        </p:pic>
        <p:sp>
          <p:nvSpPr>
            <p:cNvPr id="19" name="Text 13"/>
            <p:cNvSpPr/>
            <p:nvPr/>
          </p:nvSpPr>
          <p:spPr>
            <a:xfrm>
              <a:off x="685800" y="3456432"/>
              <a:ext cx="34290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C1C1C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Recorrido visual de la interfaz</a:t>
              </a:r>
              <a:endParaRPr lang="en-US" sz="950" dirty="0"/>
            </a:p>
          </p:txBody>
        </p:sp>
        <p:pic>
          <p:nvPicPr>
            <p:cNvPr id="24" name="Image 4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09160" y="2075688"/>
              <a:ext cx="164592" cy="164592"/>
            </a:xfrm>
            <a:prstGeom prst="rect">
              <a:avLst/>
            </a:prstGeom>
          </p:spPr>
        </p:pic>
        <p:sp>
          <p:nvSpPr>
            <p:cNvPr id="25" name="Text 18"/>
            <p:cNvSpPr/>
            <p:nvPr/>
          </p:nvSpPr>
          <p:spPr>
            <a:xfrm>
              <a:off x="4937760" y="2029968"/>
              <a:ext cx="37490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Aut. 1 guiada — Escenario L-04 en Zapier</a:t>
              </a:r>
              <a:endParaRPr lang="en-US" sz="950" dirty="0"/>
            </a:p>
          </p:txBody>
        </p:sp>
        <p:pic>
          <p:nvPicPr>
            <p:cNvPr id="26" name="Image 5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09160" y="2551176"/>
              <a:ext cx="164592" cy="164592"/>
            </a:xfrm>
            <a:prstGeom prst="rect">
              <a:avLst/>
            </a:prstGeom>
          </p:spPr>
        </p:pic>
        <p:sp>
          <p:nvSpPr>
            <p:cNvPr id="27" name="Text 19"/>
            <p:cNvSpPr/>
            <p:nvPr/>
          </p:nvSpPr>
          <p:spPr>
            <a:xfrm>
              <a:off x="4937760" y="2505456"/>
              <a:ext cx="37490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Trigger: alerta SCADA → Sheets</a:t>
              </a:r>
              <a:endParaRPr lang="en-US" sz="950" dirty="0"/>
            </a:p>
          </p:txBody>
        </p:sp>
        <p:pic>
          <p:nvPicPr>
            <p:cNvPr id="28" name="Image 6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09160" y="3026664"/>
              <a:ext cx="164592" cy="164592"/>
            </a:xfrm>
            <a:prstGeom prst="rect">
              <a:avLst/>
            </a:prstGeom>
          </p:spPr>
        </p:pic>
        <p:sp>
          <p:nvSpPr>
            <p:cNvPr id="29" name="Text 20"/>
            <p:cNvSpPr/>
            <p:nvPr/>
          </p:nvSpPr>
          <p:spPr>
            <a:xfrm>
              <a:off x="4937760" y="2980944"/>
              <a:ext cx="37490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Actions: email al turno + log de estado</a:t>
              </a:r>
              <a:endParaRPr lang="en-US" sz="950" dirty="0"/>
            </a:p>
          </p:txBody>
        </p:sp>
        <p:pic>
          <p:nvPicPr>
            <p:cNvPr id="30" name="Image 7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09160" y="3502152"/>
              <a:ext cx="164592" cy="164592"/>
            </a:xfrm>
            <a:prstGeom prst="rect">
              <a:avLst/>
            </a:prstGeom>
          </p:spPr>
        </p:pic>
        <p:sp>
          <p:nvSpPr>
            <p:cNvPr id="31" name="Text 21"/>
            <p:cNvSpPr/>
            <p:nvPr/>
          </p:nvSpPr>
          <p:spPr>
            <a:xfrm>
              <a:off x="4937760" y="3456432"/>
              <a:ext cx="37490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Aut. 2 libre — tu proceso elegido</a:t>
              </a:r>
              <a:endParaRPr lang="en-US" sz="950" dirty="0"/>
            </a:p>
          </p:txBody>
        </p:sp>
      </p:grpSp>
      <p:sp>
        <p:nvSpPr>
          <p:cNvPr id="32" name="Text 22"/>
          <p:cNvSpPr/>
          <p:nvPr/>
        </p:nvSpPr>
        <p:spPr>
          <a:xfrm>
            <a:off x="0" y="492404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de Procesos con Agentes Inteligentes · COIIAOC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77824" y="12801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ECOSISTEMA NO-CODE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2860"/>
          </a:xfrm>
          <a:prstGeom prst="rect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¿Cuándo usar cada herramienta?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20116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2011680" cy="347472"/>
          </a:xfrm>
          <a:prstGeom prst="rect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20040" y="11430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Zapier</a:t>
            </a:r>
            <a:endParaRPr lang="en-US" sz="9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591056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29768" y="2121408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Automatizaciones simples y rápidas. Ideal para conectar apps empresariales.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11480" y="3383280"/>
            <a:ext cx="1828800" cy="237744"/>
          </a:xfrm>
          <a:prstGeom prst="rect">
            <a:avLst/>
          </a:prstGeom>
          <a:solidFill>
            <a:srgbClr val="F5F2EC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411480" y="3383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Rápido de montar, </a:t>
            </a:r>
            <a:r>
              <a:rPr lang="en-US" sz="750" dirty="0" err="1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lógica</a:t>
            </a:r>
            <a:r>
              <a:rPr lang="en-US" sz="750" dirty="0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750" dirty="0" err="1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ligera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1554480" y="1115568"/>
            <a:ext cx="640080" cy="201168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1554480" y="11155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HOY ✓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2496312" y="1143000"/>
            <a:ext cx="20116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2496312" y="1143000"/>
            <a:ext cx="2011680" cy="347472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2496312" y="11430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</a:t>
            </a:r>
            <a:endParaRPr lang="en-US" sz="9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1591056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606040" y="2121408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Flujos visuales más complejos con transformación de datos.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2587752" y="3383280"/>
            <a:ext cx="1828800" cy="237744"/>
          </a:xfrm>
          <a:prstGeom prst="rect">
            <a:avLst/>
          </a:prstGeom>
          <a:solidFill>
            <a:srgbClr val="F5F2EC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9"/>
          <p:cNvSpPr/>
          <p:nvPr/>
        </p:nvSpPr>
        <p:spPr>
          <a:xfrm>
            <a:off x="2587752" y="3383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Lógica media, datos variados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4672584" y="1143000"/>
            <a:ext cx="20116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1"/>
          <p:cNvSpPr/>
          <p:nvPr/>
        </p:nvSpPr>
        <p:spPr>
          <a:xfrm>
            <a:off x="4672584" y="1143000"/>
            <a:ext cx="2011680" cy="347472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2"/>
          <p:cNvSpPr/>
          <p:nvPr/>
        </p:nvSpPr>
        <p:spPr>
          <a:xfrm>
            <a:off x="4672584" y="11430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</a:t>
            </a:r>
            <a:endParaRPr lang="en-US" sz="95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9824" y="1591056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782312" y="2121408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total. On-premise, APIs, condicionales, bucles.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4764024" y="3383280"/>
            <a:ext cx="1828800" cy="237744"/>
          </a:xfrm>
          <a:prstGeom prst="rect">
            <a:avLst/>
          </a:prstGeom>
          <a:solidFill>
            <a:srgbClr val="F5F2EC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0" name="Text 25"/>
          <p:cNvSpPr/>
          <p:nvPr/>
        </p:nvSpPr>
        <p:spPr>
          <a:xfrm>
            <a:off x="4764024" y="3383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4 — </a:t>
            </a:r>
            <a:r>
              <a:rPr lang="en-US" sz="750" dirty="0" err="1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lógica</a:t>
            </a:r>
            <a:r>
              <a:rPr lang="en-US" sz="750" dirty="0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750" dirty="0" err="1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avanzada</a:t>
            </a:r>
            <a:endParaRPr lang="en-US" sz="75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793E8AB-11BC-58D0-86B6-62E5D1360EBD}"/>
              </a:ext>
            </a:extLst>
          </p:cNvPr>
          <p:cNvGrpSpPr/>
          <p:nvPr/>
        </p:nvGrpSpPr>
        <p:grpSpPr>
          <a:xfrm>
            <a:off x="5852160" y="1042416"/>
            <a:ext cx="740664" cy="204434"/>
            <a:chOff x="5724144" y="685800"/>
            <a:chExt cx="960120" cy="204434"/>
          </a:xfrm>
        </p:grpSpPr>
        <p:sp>
          <p:nvSpPr>
            <p:cNvPr id="31" name="Shape 26"/>
            <p:cNvSpPr/>
            <p:nvPr/>
          </p:nvSpPr>
          <p:spPr>
            <a:xfrm>
              <a:off x="5724144" y="689066"/>
              <a:ext cx="960120" cy="201168"/>
            </a:xfrm>
            <a:prstGeom prst="rect">
              <a:avLst/>
            </a:prstGeom>
            <a:solidFill>
              <a:srgbClr val="00B050"/>
            </a:solidFill>
            <a:ln w="12700">
              <a:solidFill>
                <a:srgbClr val="0D7C5A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2" name="Text 27"/>
            <p:cNvSpPr/>
            <p:nvPr/>
          </p:nvSpPr>
          <p:spPr>
            <a:xfrm>
              <a:off x="5724144" y="685800"/>
              <a:ext cx="9601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SESIÓN 4 →</a:t>
              </a:r>
              <a:endParaRPr lang="en-US" sz="700" dirty="0"/>
            </a:p>
          </p:txBody>
        </p:sp>
      </p:grpSp>
      <p:sp>
        <p:nvSpPr>
          <p:cNvPr id="33" name="Shape 28"/>
          <p:cNvSpPr/>
          <p:nvPr/>
        </p:nvSpPr>
        <p:spPr>
          <a:xfrm>
            <a:off x="6848856" y="1143000"/>
            <a:ext cx="20116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4" name="Shape 29"/>
          <p:cNvSpPr/>
          <p:nvPr/>
        </p:nvSpPr>
        <p:spPr>
          <a:xfrm>
            <a:off x="6848856" y="1143000"/>
            <a:ext cx="2011680" cy="347472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0"/>
          <p:cNvSpPr/>
          <p:nvPr/>
        </p:nvSpPr>
        <p:spPr>
          <a:xfrm>
            <a:off x="6848856" y="11430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</a:t>
            </a:r>
            <a:endParaRPr lang="en-US" sz="95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6096" y="1591056"/>
            <a:ext cx="457200" cy="45720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958584" y="2121408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Ecosistema Microsoft 365. Óptimo en entornos corporativos.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6940296" y="3383280"/>
            <a:ext cx="1828800" cy="237744"/>
          </a:xfrm>
          <a:prstGeom prst="rect">
            <a:avLst/>
          </a:prstGeom>
          <a:solidFill>
            <a:srgbClr val="F5F2EC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3"/>
          <p:cNvSpPr/>
          <p:nvPr/>
        </p:nvSpPr>
        <p:spPr>
          <a:xfrm>
            <a:off x="6940296" y="3383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 ya usas Teams/SharePoint</a:t>
            </a:r>
            <a:endParaRPr lang="en-US" sz="750" dirty="0"/>
          </a:p>
        </p:txBody>
      </p:sp>
      <p:sp>
        <p:nvSpPr>
          <p:cNvPr id="40" name="Text 34"/>
          <p:cNvSpPr/>
          <p:nvPr/>
        </p:nvSpPr>
        <p:spPr>
          <a:xfrm>
            <a:off x="0" y="492404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de Procesos con Agentes Inteligentes · COIIAOC</a:t>
            </a:r>
            <a:endParaRPr lang="en-US" sz="65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CB97F4F-9EF5-A89C-DF5E-6EDF4E4C374C}"/>
              </a:ext>
            </a:extLst>
          </p:cNvPr>
          <p:cNvGrpSpPr/>
          <p:nvPr/>
        </p:nvGrpSpPr>
        <p:grpSpPr>
          <a:xfrm>
            <a:off x="320040" y="118872"/>
            <a:ext cx="475488" cy="256032"/>
            <a:chOff x="320040" y="118872"/>
            <a:chExt cx="475488" cy="256032"/>
          </a:xfrm>
        </p:grpSpPr>
        <p:sp>
          <p:nvSpPr>
            <p:cNvPr id="43" name="Shape 1">
              <a:extLst>
                <a:ext uri="{FF2B5EF4-FFF2-40B4-BE49-F238E27FC236}">
                  <a16:creationId xmlns:a16="http://schemas.microsoft.com/office/drawing/2014/main" id="{042A43AB-95DA-F07A-AEC6-5598FF070F1D}"/>
                </a:ext>
              </a:extLst>
            </p:cNvPr>
            <p:cNvSpPr/>
            <p:nvPr/>
          </p:nvSpPr>
          <p:spPr>
            <a:xfrm>
              <a:off x="320040" y="118872"/>
              <a:ext cx="475488" cy="256032"/>
            </a:xfrm>
            <a:prstGeom prst="rect">
              <a:avLst/>
            </a:prstGeom>
            <a:solidFill>
              <a:srgbClr val="FF8C3B">
                <a:alpha val="85000"/>
              </a:srgbClr>
            </a:solidFill>
            <a:ln w="9525">
              <a:solidFill>
                <a:srgbClr val="FF8C3B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4" name="Text 2">
              <a:extLst>
                <a:ext uri="{FF2B5EF4-FFF2-40B4-BE49-F238E27FC236}">
                  <a16:creationId xmlns:a16="http://schemas.microsoft.com/office/drawing/2014/main" id="{14F8AA72-9BC1-1F92-23A0-C0767E1B40D7}"/>
                </a:ext>
              </a:extLst>
            </p:cNvPr>
            <p:cNvSpPr/>
            <p:nvPr/>
          </p:nvSpPr>
          <p:spPr>
            <a:xfrm>
              <a:off x="320040" y="118872"/>
              <a:ext cx="47548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chemeClr val="bg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03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77824" y="12801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ANATOMÍA DE UN ZAP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2860"/>
          </a:xfrm>
          <a:prstGeom prst="rect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estructura universal de toda automatización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19202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1920240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74320" y="1143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3898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disparador</a:t>
            </a:r>
            <a:endParaRPr lang="en-US" sz="7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664208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65760" y="2240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evento ocurre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una aplicación</a:t>
            </a:r>
            <a:endParaRPr lang="en-US" sz="9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848" y="2423160"/>
            <a:ext cx="310896" cy="31089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65760" y="3246120"/>
            <a:ext cx="1737360" cy="640080"/>
          </a:xfrm>
          <a:prstGeom prst="rect">
            <a:avLst/>
          </a:prstGeom>
          <a:solidFill>
            <a:srgbClr val="F5F2EC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2"/>
          <p:cNvSpPr/>
          <p:nvPr/>
        </p:nvSpPr>
        <p:spPr>
          <a:xfrm>
            <a:off x="365760" y="325526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251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L-04: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365760" y="343814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 detecta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temperatura &gt; 450°C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2542032" y="1143000"/>
            <a:ext cx="19202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5"/>
          <p:cNvSpPr/>
          <p:nvPr/>
        </p:nvSpPr>
        <p:spPr>
          <a:xfrm>
            <a:off x="2542032" y="1143000"/>
            <a:ext cx="1920240" cy="42062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6"/>
          <p:cNvSpPr/>
          <p:nvPr/>
        </p:nvSpPr>
        <p:spPr>
          <a:xfrm>
            <a:off x="2542032" y="1143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2542032" y="13898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(opcional)</a:t>
            </a:r>
            <a:endParaRPr lang="en-US" sz="7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1664208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633472" y="2240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Sólo continúa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 se cumple condición</a:t>
            </a:r>
            <a:endParaRPr lang="en-US" sz="9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423160"/>
            <a:ext cx="310896" cy="31089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2633472" y="3246120"/>
            <a:ext cx="1737360" cy="640080"/>
          </a:xfrm>
          <a:prstGeom prst="rect">
            <a:avLst/>
          </a:prstGeom>
          <a:solidFill>
            <a:srgbClr val="F5F2EC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0"/>
          <p:cNvSpPr/>
          <p:nvPr/>
        </p:nvSpPr>
        <p:spPr>
          <a:xfrm>
            <a:off x="2633472" y="325526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251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L-04:</a:t>
            </a:r>
            <a:endParaRPr lang="en-US" sz="700" dirty="0"/>
          </a:p>
        </p:txBody>
      </p:sp>
      <p:sp>
        <p:nvSpPr>
          <p:cNvPr id="27" name="Text 21"/>
          <p:cNvSpPr/>
          <p:nvPr/>
        </p:nvSpPr>
        <p:spPr>
          <a:xfrm>
            <a:off x="2633472" y="343814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¿Es turno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noche?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4809744" y="1143000"/>
            <a:ext cx="19202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3"/>
          <p:cNvSpPr/>
          <p:nvPr/>
        </p:nvSpPr>
        <p:spPr>
          <a:xfrm>
            <a:off x="4809744" y="1143000"/>
            <a:ext cx="1920240" cy="420624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4"/>
          <p:cNvSpPr/>
          <p:nvPr/>
        </p:nvSpPr>
        <p:spPr>
          <a:xfrm>
            <a:off x="4809744" y="1143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1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4809744" y="13898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Primera acción</a:t>
            </a:r>
            <a:endParaRPr lang="en-US" sz="75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1264" y="1664208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901184" y="2240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Hacer algo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automáticamente</a:t>
            </a:r>
            <a:endParaRPr lang="en-US" sz="9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2423160"/>
            <a:ext cx="310896" cy="310896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4901184" y="3246120"/>
            <a:ext cx="1737360" cy="640080"/>
          </a:xfrm>
          <a:prstGeom prst="rect">
            <a:avLst/>
          </a:prstGeom>
          <a:solidFill>
            <a:srgbClr val="F5F2EC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28"/>
          <p:cNvSpPr/>
          <p:nvPr/>
        </p:nvSpPr>
        <p:spPr>
          <a:xfrm>
            <a:off x="4901184" y="325526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251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L-04:</a:t>
            </a:r>
            <a:endParaRPr lang="en-US" sz="700" dirty="0"/>
          </a:p>
        </p:txBody>
      </p:sp>
      <p:sp>
        <p:nvSpPr>
          <p:cNvPr id="37" name="Text 29"/>
          <p:cNvSpPr/>
          <p:nvPr/>
        </p:nvSpPr>
        <p:spPr>
          <a:xfrm>
            <a:off x="4901184" y="343814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Envía email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 responsable</a:t>
            </a:r>
            <a:endParaRPr lang="en-US" sz="800" dirty="0"/>
          </a:p>
        </p:txBody>
      </p:sp>
      <p:sp>
        <p:nvSpPr>
          <p:cNvPr id="38" name="Shape 30"/>
          <p:cNvSpPr/>
          <p:nvPr/>
        </p:nvSpPr>
        <p:spPr>
          <a:xfrm>
            <a:off x="7077456" y="1143000"/>
            <a:ext cx="19202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9" name="Shape 31"/>
          <p:cNvSpPr/>
          <p:nvPr/>
        </p:nvSpPr>
        <p:spPr>
          <a:xfrm>
            <a:off x="7077456" y="1143000"/>
            <a:ext cx="1920240" cy="420624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2"/>
          <p:cNvSpPr/>
          <p:nvPr/>
        </p:nvSpPr>
        <p:spPr>
          <a:xfrm>
            <a:off x="7077456" y="1143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2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7077456" y="13898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Acción adicional</a:t>
            </a:r>
            <a:endParaRPr lang="en-US" sz="750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8976" y="1664208"/>
            <a:ext cx="457200" cy="45720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7168896" y="2240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Encadenar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más pasos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7168896" y="3246120"/>
            <a:ext cx="1737360" cy="640080"/>
          </a:xfrm>
          <a:prstGeom prst="rect">
            <a:avLst/>
          </a:prstGeom>
          <a:solidFill>
            <a:srgbClr val="F5F2EC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36"/>
          <p:cNvSpPr/>
          <p:nvPr/>
        </p:nvSpPr>
        <p:spPr>
          <a:xfrm>
            <a:off x="7168896" y="325526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251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L-04:</a:t>
            </a:r>
            <a:endParaRPr lang="en-US" sz="700" dirty="0"/>
          </a:p>
        </p:txBody>
      </p:sp>
      <p:sp>
        <p:nvSpPr>
          <p:cNvPr id="46" name="Text 37"/>
          <p:cNvSpPr/>
          <p:nvPr/>
        </p:nvSpPr>
        <p:spPr>
          <a:xfrm>
            <a:off x="7168896" y="343814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Registra en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hoja de log</a:t>
            </a:r>
            <a:endParaRPr lang="en-US" sz="800" dirty="0"/>
          </a:p>
        </p:txBody>
      </p:sp>
      <p:sp>
        <p:nvSpPr>
          <p:cNvPr id="47" name="Text 38"/>
          <p:cNvSpPr/>
          <p:nvPr/>
        </p:nvSpPr>
        <p:spPr>
          <a:xfrm>
            <a:off x="0" y="492404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de Procesos con Agentes Inteligentes · COIIAOC</a:t>
            </a:r>
            <a:endParaRPr lang="en-US" sz="650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B5ACB1B-A982-E701-4309-85EE697895D7}"/>
              </a:ext>
            </a:extLst>
          </p:cNvPr>
          <p:cNvGrpSpPr/>
          <p:nvPr/>
        </p:nvGrpSpPr>
        <p:grpSpPr>
          <a:xfrm>
            <a:off x="320040" y="118872"/>
            <a:ext cx="475488" cy="256032"/>
            <a:chOff x="320040" y="118872"/>
            <a:chExt cx="475488" cy="256032"/>
          </a:xfrm>
        </p:grpSpPr>
        <p:sp>
          <p:nvSpPr>
            <p:cNvPr id="49" name="Shape 1">
              <a:extLst>
                <a:ext uri="{FF2B5EF4-FFF2-40B4-BE49-F238E27FC236}">
                  <a16:creationId xmlns:a16="http://schemas.microsoft.com/office/drawing/2014/main" id="{AC73D693-E3F7-C98B-5D33-9CF3D8013B65}"/>
                </a:ext>
              </a:extLst>
            </p:cNvPr>
            <p:cNvSpPr/>
            <p:nvPr/>
          </p:nvSpPr>
          <p:spPr>
            <a:xfrm>
              <a:off x="320040" y="118872"/>
              <a:ext cx="475488" cy="256032"/>
            </a:xfrm>
            <a:prstGeom prst="rect">
              <a:avLst/>
            </a:prstGeom>
            <a:solidFill>
              <a:srgbClr val="FF8C3B">
                <a:alpha val="85000"/>
              </a:srgbClr>
            </a:solidFill>
            <a:ln w="9525">
              <a:solidFill>
                <a:srgbClr val="FF8C3B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0" name="Text 2">
              <a:extLst>
                <a:ext uri="{FF2B5EF4-FFF2-40B4-BE49-F238E27FC236}">
                  <a16:creationId xmlns:a16="http://schemas.microsoft.com/office/drawing/2014/main" id="{A032643C-AE2B-BD70-9B06-2B9B1030234E}"/>
                </a:ext>
              </a:extLst>
            </p:cNvPr>
            <p:cNvSpPr/>
            <p:nvPr/>
          </p:nvSpPr>
          <p:spPr>
            <a:xfrm>
              <a:off x="320040" y="118872"/>
              <a:ext cx="47548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chemeClr val="bg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04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77824" y="12801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TRIGGERS — EL DISPARADOR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2860"/>
          </a:xfrm>
          <a:prstGeom prst="rect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un Trigger? </a:t>
            </a:r>
            <a:r>
              <a:rPr lang="en-US" sz="1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evento que despierta el Zap y pone todo en marcha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2788920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2788920" cy="384048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74320" y="111556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EVENTO EN APP</a:t>
            </a:r>
            <a:endParaRPr lang="en-US" sz="9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8" y="1591056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11480" y="2121408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Nueva fila en Google Sheets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Nuevo email en Gmail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Formulario enviado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84048" y="3145536"/>
            <a:ext cx="2569464" cy="6035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384048" y="3145536"/>
            <a:ext cx="2569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INDUSTRIA: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384048" y="3337560"/>
            <a:ext cx="2569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 vuelca dato en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hoja de partes de turno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246120" y="1115568"/>
            <a:ext cx="2788920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3246120" y="1115568"/>
            <a:ext cx="2788920" cy="384048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3246120" y="111556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HORARIO/CRON</a:t>
            </a:r>
            <a:endParaRPr lang="en-US" sz="9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1591056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83280" y="2121408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Cada día a las 06:00h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Cada lunes a las 07:30h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Primero de mes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355848" y="3145536"/>
            <a:ext cx="2569464" cy="6035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8"/>
          <p:cNvSpPr/>
          <p:nvPr/>
        </p:nvSpPr>
        <p:spPr>
          <a:xfrm>
            <a:off x="3355848" y="3145536"/>
            <a:ext cx="2569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INDUSTRIA: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3355848" y="3337560"/>
            <a:ext cx="2569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Informe de cierre de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turno de madrugada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6217920" y="1115568"/>
            <a:ext cx="2788920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1"/>
          <p:cNvSpPr/>
          <p:nvPr/>
        </p:nvSpPr>
        <p:spPr>
          <a:xfrm>
            <a:off x="6217920" y="1115568"/>
            <a:ext cx="278892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2"/>
          <p:cNvSpPr/>
          <p:nvPr/>
        </p:nvSpPr>
        <p:spPr>
          <a:xfrm>
            <a:off x="6217920" y="111556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WEBHOOK</a:t>
            </a:r>
            <a:endParaRPr lang="en-US" sz="9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208" y="1591056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355080" y="2121408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Recibe datos desde cualquier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externo (SCADA, ERP)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Petición HTTP directa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327648" y="3145536"/>
            <a:ext cx="2569464" cy="6035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5"/>
          <p:cNvSpPr/>
          <p:nvPr/>
        </p:nvSpPr>
        <p:spPr>
          <a:xfrm>
            <a:off x="6327648" y="3145536"/>
            <a:ext cx="2569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INDUSTRIA:</a:t>
            </a:r>
            <a:endParaRPr lang="en-US" sz="700" dirty="0"/>
          </a:p>
        </p:txBody>
      </p:sp>
      <p:sp>
        <p:nvSpPr>
          <p:cNvPr id="31" name="Text 26"/>
          <p:cNvSpPr/>
          <p:nvPr/>
        </p:nvSpPr>
        <p:spPr>
          <a:xfrm>
            <a:off x="6327648" y="3337560"/>
            <a:ext cx="2569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SCADA envía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alerta automática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0" y="492404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de Procesos con Agentes Inteligentes · COIIAOC</a:t>
            </a:r>
            <a:endParaRPr lang="en-US" sz="65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1A0AD7A-6EC6-7C42-0297-4770819A36CF}"/>
              </a:ext>
            </a:extLst>
          </p:cNvPr>
          <p:cNvGrpSpPr/>
          <p:nvPr/>
        </p:nvGrpSpPr>
        <p:grpSpPr>
          <a:xfrm>
            <a:off x="320040" y="118872"/>
            <a:ext cx="475488" cy="256032"/>
            <a:chOff x="320040" y="118872"/>
            <a:chExt cx="475488" cy="256032"/>
          </a:xfrm>
        </p:grpSpPr>
        <p:sp>
          <p:nvSpPr>
            <p:cNvPr id="34" name="Shape 1">
              <a:extLst>
                <a:ext uri="{FF2B5EF4-FFF2-40B4-BE49-F238E27FC236}">
                  <a16:creationId xmlns:a16="http://schemas.microsoft.com/office/drawing/2014/main" id="{4D37C447-75AC-19E0-0FC7-C6479541F122}"/>
                </a:ext>
              </a:extLst>
            </p:cNvPr>
            <p:cNvSpPr/>
            <p:nvPr/>
          </p:nvSpPr>
          <p:spPr>
            <a:xfrm>
              <a:off x="320040" y="118872"/>
              <a:ext cx="475488" cy="256032"/>
            </a:xfrm>
            <a:prstGeom prst="rect">
              <a:avLst/>
            </a:prstGeom>
            <a:solidFill>
              <a:srgbClr val="FF8C3B">
                <a:alpha val="85000"/>
              </a:srgbClr>
            </a:solidFill>
            <a:ln w="9525">
              <a:solidFill>
                <a:srgbClr val="FF8C3B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Text 2">
              <a:extLst>
                <a:ext uri="{FF2B5EF4-FFF2-40B4-BE49-F238E27FC236}">
                  <a16:creationId xmlns:a16="http://schemas.microsoft.com/office/drawing/2014/main" id="{7C064F30-BF55-6E6B-72D4-174530808C35}"/>
                </a:ext>
              </a:extLst>
            </p:cNvPr>
            <p:cNvSpPr/>
            <p:nvPr/>
          </p:nvSpPr>
          <p:spPr>
            <a:xfrm>
              <a:off x="320040" y="118872"/>
              <a:ext cx="47548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chemeClr val="bg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05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77824" y="12801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ACTIONS — LA ACCIÓN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2860"/>
          </a:xfrm>
          <a:prstGeom prst="rect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una Action? </a:t>
            </a:r>
            <a:r>
              <a:rPr lang="en-US" sz="1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el Zap ejecuta automáticamente cuando se dispara el Trigger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4160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20040" y="1115568"/>
            <a:ext cx="64008" cy="1645920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682496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12252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E6B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ENVIAR EMAIL/SMS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60120" y="15544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Notificación de alerta al responsable de </a:t>
            </a:r>
            <a:r>
              <a:rPr lang="en-US" sz="900" dirty="0" err="1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turno</a:t>
            </a:r>
            <a:endParaRPr lang="en-US" sz="900" dirty="0">
              <a:solidFill>
                <a:srgbClr val="1C1C1C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                                                con datos del sensor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54880" y="1115568"/>
            <a:ext cx="4160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4754880" y="1115568"/>
            <a:ext cx="64008" cy="1645920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682496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94960" y="12252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D7C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ESCRIBIR EN SHEETS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394960" y="15544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Registrar lectura de sensor +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                timestamp en hoja de log de incidencias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20040" y="2898648"/>
            <a:ext cx="4160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5"/>
          <p:cNvSpPr/>
          <p:nvPr/>
        </p:nvSpPr>
        <p:spPr>
          <a:xfrm>
            <a:off x="320040" y="2898648"/>
            <a:ext cx="64008" cy="1645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465576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0120" y="30083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CREAR REGISTRO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960120" y="33375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Añadir tarea en Asana, ticket en Jira o entrada en CRM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754880" y="2898648"/>
            <a:ext cx="4160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19"/>
          <p:cNvSpPr/>
          <p:nvPr/>
        </p:nvSpPr>
        <p:spPr>
          <a:xfrm>
            <a:off x="4754880" y="2898648"/>
            <a:ext cx="64008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465576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94960" y="30083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ENVIAR A SLACK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5394960" y="33375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Mensaje al canal #alertas-produccion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 estado del equipo L-04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0" y="492404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de Procesos con Agentes Inteligentes · COIIAOC</a:t>
            </a:r>
            <a:endParaRPr lang="en-US" sz="65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553590-F712-860F-262B-E18C835A3C0E}"/>
              </a:ext>
            </a:extLst>
          </p:cNvPr>
          <p:cNvGrpSpPr/>
          <p:nvPr/>
        </p:nvGrpSpPr>
        <p:grpSpPr>
          <a:xfrm>
            <a:off x="320040" y="118872"/>
            <a:ext cx="475488" cy="256032"/>
            <a:chOff x="320040" y="118872"/>
            <a:chExt cx="475488" cy="256032"/>
          </a:xfrm>
        </p:grpSpPr>
        <p:sp>
          <p:nvSpPr>
            <p:cNvPr id="30" name="Shape 1">
              <a:extLst>
                <a:ext uri="{FF2B5EF4-FFF2-40B4-BE49-F238E27FC236}">
                  <a16:creationId xmlns:a16="http://schemas.microsoft.com/office/drawing/2014/main" id="{E46C4BE3-70D0-A928-413B-2D5896A2CD69}"/>
                </a:ext>
              </a:extLst>
            </p:cNvPr>
            <p:cNvSpPr/>
            <p:nvPr/>
          </p:nvSpPr>
          <p:spPr>
            <a:xfrm>
              <a:off x="320040" y="118872"/>
              <a:ext cx="475488" cy="256032"/>
            </a:xfrm>
            <a:prstGeom prst="rect">
              <a:avLst/>
            </a:prstGeom>
            <a:solidFill>
              <a:srgbClr val="FF8C3B">
                <a:alpha val="85000"/>
              </a:srgbClr>
            </a:solidFill>
            <a:ln w="9525">
              <a:solidFill>
                <a:srgbClr val="FF8C3B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1" name="Text 2">
              <a:extLst>
                <a:ext uri="{FF2B5EF4-FFF2-40B4-BE49-F238E27FC236}">
                  <a16:creationId xmlns:a16="http://schemas.microsoft.com/office/drawing/2014/main" id="{1B276AB8-D658-D27E-FC61-F5BC7D247DAF}"/>
                </a:ext>
              </a:extLst>
            </p:cNvPr>
            <p:cNvSpPr/>
            <p:nvPr/>
          </p:nvSpPr>
          <p:spPr>
            <a:xfrm>
              <a:off x="320040" y="118872"/>
              <a:ext cx="47548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chemeClr val="bg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06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77824" y="12801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ZAPIER EN CONTEXTO INDUSTRIAL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2860"/>
          </a:xfrm>
          <a:prstGeom prst="rect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puede hacer — y cuándo necesitas más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411480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4114800" cy="365760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74320" y="1115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ZAPIER PUEDE</a:t>
            </a:r>
            <a:endParaRPr lang="en-US" sz="9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00200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3232" y="15636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Conectar +7.000 aplicaciones (Sheets, Gmail, Slack, Teams…)</a:t>
            </a:r>
            <a:endParaRPr lang="en-US" sz="9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3055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" y="20939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Enviar notificaciones automáticas al dispararse un evento</a:t>
            </a:r>
            <a:endParaRPr lang="en-US" sz="9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660904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3232" y="26243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Registrar datos en hojas de cálculo o bases de datos</a:t>
            </a:r>
            <a:endParaRPr lang="en-US" sz="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191256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3232" y="31546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Programar informes y resúmenes periódicos</a:t>
            </a:r>
            <a:endParaRPr lang="en-US" sz="9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721608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13232" y="36850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Filtrar y enrutar datos con condiciones simples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4754880" y="1115568"/>
            <a:ext cx="411480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15"/>
          <p:cNvSpPr/>
          <p:nvPr/>
        </p:nvSpPr>
        <p:spPr>
          <a:xfrm>
            <a:off x="4754880" y="1115568"/>
            <a:ext cx="4114800" cy="3657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6"/>
          <p:cNvSpPr/>
          <p:nvPr/>
        </p:nvSpPr>
        <p:spPr>
          <a:xfrm>
            <a:off x="4754880" y="1115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AVANZAR A n8n (Sesión 4)</a:t>
            </a:r>
            <a:endParaRPr lang="en-US" sz="9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600200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193792" y="15636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Lógica condicional compleja (If / Switch / bucles)</a:t>
            </a:r>
            <a:endParaRPr lang="en-US" sz="9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130552"/>
            <a:ext cx="219456" cy="21945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193792" y="20939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Transformación de datos avanzada (JSON, XML, cálculos)</a:t>
            </a:r>
            <a:endParaRPr lang="en-US" sz="9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660904"/>
            <a:ext cx="219456" cy="219456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193792" y="26243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de errores sofisticado y reintentos inteligentes</a:t>
            </a:r>
            <a:endParaRPr lang="en-US" sz="95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191256"/>
            <a:ext cx="219456" cy="219456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193792" y="31546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Integrar APIs no soportadas o protocolos industriales (OPC-UA)</a:t>
            </a:r>
            <a:endParaRPr lang="en-US" sz="9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721608"/>
            <a:ext cx="219456" cy="219456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5193792" y="36850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Procesamiento con IA embebida (LLM)</a:t>
            </a:r>
            <a:endParaRPr lang="en-US" sz="950" dirty="0"/>
          </a:p>
        </p:txBody>
      </p:sp>
      <p:sp>
        <p:nvSpPr>
          <p:cNvPr id="34" name="Text 22"/>
          <p:cNvSpPr/>
          <p:nvPr/>
        </p:nvSpPr>
        <p:spPr>
          <a:xfrm>
            <a:off x="0" y="492404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de Procesos con Agentes Inteligentes · COIIAOC</a:t>
            </a:r>
            <a:endParaRPr lang="en-US" sz="65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ACF055F-E8AC-1564-E655-A9E1D27C0DA7}"/>
              </a:ext>
            </a:extLst>
          </p:cNvPr>
          <p:cNvGrpSpPr/>
          <p:nvPr/>
        </p:nvGrpSpPr>
        <p:grpSpPr>
          <a:xfrm>
            <a:off x="320040" y="118872"/>
            <a:ext cx="475488" cy="256032"/>
            <a:chOff x="320040" y="118872"/>
            <a:chExt cx="475488" cy="256032"/>
          </a:xfrm>
        </p:grpSpPr>
        <p:sp>
          <p:nvSpPr>
            <p:cNvPr id="36" name="Shape 1">
              <a:extLst>
                <a:ext uri="{FF2B5EF4-FFF2-40B4-BE49-F238E27FC236}">
                  <a16:creationId xmlns:a16="http://schemas.microsoft.com/office/drawing/2014/main" id="{11DEC93F-72B6-877E-6BC1-9EEAE9CD21B6}"/>
                </a:ext>
              </a:extLst>
            </p:cNvPr>
            <p:cNvSpPr/>
            <p:nvPr/>
          </p:nvSpPr>
          <p:spPr>
            <a:xfrm>
              <a:off x="320040" y="118872"/>
              <a:ext cx="475488" cy="256032"/>
            </a:xfrm>
            <a:prstGeom prst="rect">
              <a:avLst/>
            </a:prstGeom>
            <a:solidFill>
              <a:srgbClr val="FF8C3B">
                <a:alpha val="85000"/>
              </a:srgbClr>
            </a:solidFill>
            <a:ln w="9525">
              <a:solidFill>
                <a:srgbClr val="FF8C3B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7" name="Text 2">
              <a:extLst>
                <a:ext uri="{FF2B5EF4-FFF2-40B4-BE49-F238E27FC236}">
                  <a16:creationId xmlns:a16="http://schemas.microsoft.com/office/drawing/2014/main" id="{E43F5443-4DFE-3B67-2FB7-069702E95EE5}"/>
                </a:ext>
              </a:extLst>
            </p:cNvPr>
            <p:cNvSpPr/>
            <p:nvPr/>
          </p:nvSpPr>
          <p:spPr>
            <a:xfrm>
              <a:off x="320040" y="118872"/>
              <a:ext cx="47548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chemeClr val="bg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07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77824" y="12801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INTERFAZ DE ZAPIER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2860"/>
          </a:xfrm>
          <a:prstGeom prst="rect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Anatomía del editor — zonas clave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85953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8595360" cy="347472"/>
          </a:xfrm>
          <a:prstGeom prst="rect">
            <a:avLst/>
          </a:prstGeom>
          <a:solidFill>
            <a:srgbClr val="F4F3FF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11480" y="109728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 Mi primer Zap (borrador) — Editor de Zaps  — Zapier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444752"/>
            <a:ext cx="1645920" cy="3310128"/>
          </a:xfrm>
          <a:prstGeom prst="rect">
            <a:avLst/>
          </a:prstGeom>
          <a:solidFill>
            <a:srgbClr val="F8F8FF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0040" y="148132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Pasos del Zap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47472" y="1773936"/>
            <a:ext cx="14813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84048" y="1783080"/>
            <a:ext cx="1408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7C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TRIGGER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84048" y="1975104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Sheets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47472" y="2414016"/>
            <a:ext cx="14813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84048" y="2423160"/>
            <a:ext cx="1408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6B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ACTION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84048" y="2615184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Gmail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47472" y="3054096"/>
            <a:ext cx="1481328" cy="475488"/>
          </a:xfrm>
          <a:prstGeom prst="rect">
            <a:avLst/>
          </a:prstGeom>
          <a:solidFill>
            <a:srgbClr val="F5F2EC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84048" y="3063240"/>
            <a:ext cx="1408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Añadir paso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920240" y="1444752"/>
            <a:ext cx="694944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2057400" y="1536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Configurar Trigger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011680" y="1901952"/>
            <a:ext cx="6400800" cy="502920"/>
          </a:xfrm>
          <a:prstGeom prst="rect">
            <a:avLst/>
          </a:prstGeom>
          <a:solidFill>
            <a:srgbClr val="F5F2EC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2148840" y="190195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de origen: Google Sheets ▾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0" y="2487168"/>
            <a:ext cx="6400800" cy="502920"/>
          </a:xfrm>
          <a:prstGeom prst="rect">
            <a:avLst/>
          </a:prstGeom>
          <a:solidFill>
            <a:srgbClr val="F5F2EC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2148840" y="248716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Evento: Nueva fila en hoja de cálculo ▾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0" y="3337560"/>
            <a:ext cx="25603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669280" y="33375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Probar trigger →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" y="1874520"/>
            <a:ext cx="256032" cy="256032"/>
          </a:xfrm>
          <a:prstGeom prst="lin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45720" y="1874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697480" y="1417320"/>
            <a:ext cx="256032" cy="256032"/>
          </a:xfrm>
          <a:prstGeom prst="line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2697480" y="1417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035040" y="3154680"/>
            <a:ext cx="256032" cy="256032"/>
          </a:xfrm>
          <a:prstGeom prst="line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6035040" y="3154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0" y="492404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de Procesos con Agentes Inteligentes · COIIAOC</a:t>
            </a:r>
            <a:endParaRPr lang="en-US" sz="65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FF8A6F9-62A3-3C01-7CD1-F85CD1F50119}"/>
              </a:ext>
            </a:extLst>
          </p:cNvPr>
          <p:cNvGrpSpPr/>
          <p:nvPr/>
        </p:nvGrpSpPr>
        <p:grpSpPr>
          <a:xfrm>
            <a:off x="320040" y="118872"/>
            <a:ext cx="475488" cy="256032"/>
            <a:chOff x="320040" y="118872"/>
            <a:chExt cx="475488" cy="256032"/>
          </a:xfrm>
        </p:grpSpPr>
        <p:sp>
          <p:nvSpPr>
            <p:cNvPr id="37" name="Shape 1">
              <a:extLst>
                <a:ext uri="{FF2B5EF4-FFF2-40B4-BE49-F238E27FC236}">
                  <a16:creationId xmlns:a16="http://schemas.microsoft.com/office/drawing/2014/main" id="{FB67E29E-F4B5-7F4E-BE31-FE26CC7F0C60}"/>
                </a:ext>
              </a:extLst>
            </p:cNvPr>
            <p:cNvSpPr/>
            <p:nvPr/>
          </p:nvSpPr>
          <p:spPr>
            <a:xfrm>
              <a:off x="320040" y="118872"/>
              <a:ext cx="475488" cy="256032"/>
            </a:xfrm>
            <a:prstGeom prst="rect">
              <a:avLst/>
            </a:prstGeom>
            <a:solidFill>
              <a:srgbClr val="FF8C3B">
                <a:alpha val="85000"/>
              </a:srgbClr>
            </a:solidFill>
            <a:ln w="9525">
              <a:solidFill>
                <a:srgbClr val="FF8C3B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8" name="Text 2">
              <a:extLst>
                <a:ext uri="{FF2B5EF4-FFF2-40B4-BE49-F238E27FC236}">
                  <a16:creationId xmlns:a16="http://schemas.microsoft.com/office/drawing/2014/main" id="{DD97F177-B9D6-053E-613E-CA6B64E2AF26}"/>
                </a:ext>
              </a:extLst>
            </p:cNvPr>
            <p:cNvSpPr/>
            <p:nvPr/>
          </p:nvSpPr>
          <p:spPr>
            <a:xfrm>
              <a:off x="320040" y="118872"/>
              <a:ext cx="47548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chemeClr val="bg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08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20040" y="10972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BLOQUE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320040" y="182880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8C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PRÁCTICO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20040" y="27432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9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</a:t>
            </a:r>
            <a:r>
              <a:rPr lang="en-US" sz="1300" i="1" dirty="0">
                <a:solidFill>
                  <a:srgbClr val="9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· Zapier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492404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de Procesos con Agentes Inteligentes · COIIAOC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77824" y="12801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1 — GUIADA · ESCENARIO L-04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2860"/>
          </a:xfrm>
          <a:prstGeom prst="rect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Objetivo: </a:t>
            </a:r>
            <a:r>
              <a:rPr lang="en-US" sz="12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Reproducir en Zapier la respuesta al primer ciclo PRDA del sensor T-HORNO-04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85953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74320" y="111556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CONTEXTO: T-HORNO-04 = 491°C  ·  Límite: 450°C  ·  18 min en alerta  ·  Sin notas previas de turno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536192"/>
            <a:ext cx="2816352" cy="3218688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74320" y="1536192"/>
            <a:ext cx="2816352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74320" y="153619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1: TRIGGER</a:t>
            </a:r>
            <a:endParaRPr lang="en-US" sz="8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2011680"/>
            <a:ext cx="457200" cy="457200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596896"/>
            <a:ext cx="146304" cy="1463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6928" y="256946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App: Google Sheets</a:t>
            </a:r>
            <a:endParaRPr lang="en-US" sz="8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090672"/>
            <a:ext cx="146304" cy="1463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6928" y="30632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Evento: Nueva fila en hoja de cálculo</a:t>
            </a:r>
            <a:endParaRPr lang="en-US" sz="8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584448"/>
            <a:ext cx="146304" cy="1463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6928" y="355701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Hoja: 'AlertasL04'</a:t>
            </a:r>
            <a:endParaRPr lang="en-US" sz="8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4078224"/>
            <a:ext cx="146304" cy="1463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66928" y="40507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Conectar cuenta Google (plan Free ✓)</a:t>
            </a:r>
            <a:endParaRPr lang="en-US" sz="850" dirty="0"/>
          </a:p>
        </p:txBody>
      </p:sp>
      <p:sp>
        <p:nvSpPr>
          <p:cNvPr id="22" name="Shape 15"/>
          <p:cNvSpPr/>
          <p:nvPr/>
        </p:nvSpPr>
        <p:spPr>
          <a:xfrm>
            <a:off x="3273552" y="1536192"/>
            <a:ext cx="2816352" cy="3218688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16"/>
          <p:cNvSpPr/>
          <p:nvPr/>
        </p:nvSpPr>
        <p:spPr>
          <a:xfrm>
            <a:off x="3273552" y="1536192"/>
            <a:ext cx="2816352" cy="384048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17"/>
          <p:cNvSpPr/>
          <p:nvPr/>
        </p:nvSpPr>
        <p:spPr>
          <a:xfrm>
            <a:off x="3273552" y="153619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2: ACTION 1 — Email</a:t>
            </a:r>
            <a:endParaRPr lang="en-US" sz="8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2011680"/>
            <a:ext cx="457200" cy="457200"/>
          </a:xfrm>
          <a:prstGeom prst="rect">
            <a:avLst/>
          </a:prstGeom>
        </p:spPr>
      </p:pic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2596896"/>
            <a:ext cx="146304" cy="14630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566160" y="256946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App: Gmail → Enviar Email</a:t>
            </a:r>
            <a:endParaRPr lang="en-US" sz="8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3090672"/>
            <a:ext cx="146304" cy="146304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566160" y="30632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Para: responsable@planta.es</a:t>
            </a:r>
            <a:endParaRPr lang="en-US" sz="85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3584448"/>
            <a:ext cx="146304" cy="146304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3566160" y="355701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Asunto: '[ALERTA] L-04 - {{Sensor}} - {{Temperatura}}°C'</a:t>
            </a:r>
            <a:endParaRPr lang="en-US" sz="85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4078224"/>
            <a:ext cx="146304" cy="146304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3566160" y="40507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Cuerpo: datos del Trigger</a:t>
            </a:r>
            <a:endParaRPr lang="en-US" sz="850" dirty="0"/>
          </a:p>
        </p:txBody>
      </p:sp>
      <p:sp>
        <p:nvSpPr>
          <p:cNvPr id="34" name="Shape 22"/>
          <p:cNvSpPr/>
          <p:nvPr/>
        </p:nvSpPr>
        <p:spPr>
          <a:xfrm>
            <a:off x="6272784" y="1536192"/>
            <a:ext cx="2816352" cy="3218688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Shape 23"/>
          <p:cNvSpPr/>
          <p:nvPr/>
        </p:nvSpPr>
        <p:spPr>
          <a:xfrm>
            <a:off x="6272784" y="1536192"/>
            <a:ext cx="2816352" cy="384048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24"/>
          <p:cNvSpPr/>
          <p:nvPr/>
        </p:nvSpPr>
        <p:spPr>
          <a:xfrm>
            <a:off x="6272784" y="153619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3: ACTION 2 — Log</a:t>
            </a:r>
            <a:endParaRPr lang="en-US" sz="8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2011680"/>
            <a:ext cx="457200" cy="457200"/>
          </a:xfrm>
          <a:prstGeom prst="rect">
            <a:avLst/>
          </a:prstGeom>
        </p:spPr>
      </p:pic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596896"/>
            <a:ext cx="146304" cy="146304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6565392" y="256946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App: Google Sheets → Añadir Fila</a:t>
            </a:r>
            <a:endParaRPr lang="en-US" sz="850" dirty="0"/>
          </a:p>
        </p:txBody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3090672"/>
            <a:ext cx="146304" cy="146304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6565392" y="30632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Hoja destino: 'LogEstados'</a:t>
            </a:r>
            <a:endParaRPr lang="en-US" sz="85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3584448"/>
            <a:ext cx="146304" cy="146304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6565392" y="355701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Columnas: Timestamp, Sensor, Valor, Estado='NOTIFICADO'</a:t>
            </a:r>
            <a:endParaRPr lang="en-US" sz="850" dirty="0"/>
          </a:p>
        </p:txBody>
      </p:sp>
      <p:pic>
        <p:nvPicPr>
          <p:cNvPr id="44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4078224"/>
            <a:ext cx="146304" cy="146304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6565392" y="40507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Mapear campos desde Trigger</a:t>
            </a:r>
            <a:endParaRPr lang="en-US" sz="850" dirty="0"/>
          </a:p>
        </p:txBody>
      </p:sp>
      <p:sp>
        <p:nvSpPr>
          <p:cNvPr id="46" name="Text 29"/>
          <p:cNvSpPr/>
          <p:nvPr/>
        </p:nvSpPr>
        <p:spPr>
          <a:xfrm>
            <a:off x="0" y="492404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de Procesos con Agentes Inteligentes · COIIAOC</a:t>
            </a:r>
            <a:endParaRPr lang="en-US" sz="65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560725A-A43B-DF21-5CA5-4DB537FCC296}"/>
              </a:ext>
            </a:extLst>
          </p:cNvPr>
          <p:cNvGrpSpPr/>
          <p:nvPr/>
        </p:nvGrpSpPr>
        <p:grpSpPr>
          <a:xfrm>
            <a:off x="320040" y="118872"/>
            <a:ext cx="475488" cy="256032"/>
            <a:chOff x="320040" y="118872"/>
            <a:chExt cx="475488" cy="256032"/>
          </a:xfrm>
        </p:grpSpPr>
        <p:sp>
          <p:nvSpPr>
            <p:cNvPr id="48" name="Shape 1">
              <a:extLst>
                <a:ext uri="{FF2B5EF4-FFF2-40B4-BE49-F238E27FC236}">
                  <a16:creationId xmlns:a16="http://schemas.microsoft.com/office/drawing/2014/main" id="{29D96FC8-8B91-6125-5F9E-0BA25882014F}"/>
                </a:ext>
              </a:extLst>
            </p:cNvPr>
            <p:cNvSpPr/>
            <p:nvPr/>
          </p:nvSpPr>
          <p:spPr>
            <a:xfrm>
              <a:off x="320040" y="118872"/>
              <a:ext cx="475488" cy="256032"/>
            </a:xfrm>
            <a:prstGeom prst="rect">
              <a:avLst/>
            </a:prstGeom>
            <a:solidFill>
              <a:srgbClr val="FF8C3B">
                <a:alpha val="85000"/>
              </a:srgbClr>
            </a:solidFill>
            <a:ln w="9525">
              <a:solidFill>
                <a:srgbClr val="FF8C3B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9" name="Text 2">
              <a:extLst>
                <a:ext uri="{FF2B5EF4-FFF2-40B4-BE49-F238E27FC236}">
                  <a16:creationId xmlns:a16="http://schemas.microsoft.com/office/drawing/2014/main" id="{3479558A-9BDD-9BE3-E93C-ABC40B91A312}"/>
                </a:ext>
              </a:extLst>
            </p:cNvPr>
            <p:cNvSpPr/>
            <p:nvPr/>
          </p:nvSpPr>
          <p:spPr>
            <a:xfrm>
              <a:off x="320040" y="118872"/>
              <a:ext cx="47548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chemeClr val="bg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10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77824" y="12801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2 — TU PROCESO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2860"/>
          </a:xfrm>
          <a:prstGeom prst="rect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51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min · </a:t>
            </a:r>
            <a:r>
              <a:rPr lang="en-US" sz="12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Completa </a:t>
            </a:r>
            <a:r>
              <a:rPr lang="en-US" sz="1200" dirty="0" err="1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</a:t>
            </a:r>
            <a:r>
              <a:rPr lang="en-US" sz="12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200" dirty="0" err="1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</a:t>
            </a:r>
            <a:r>
              <a:rPr lang="en-US" sz="12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IO/RE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078992"/>
            <a:ext cx="8595360" cy="32918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74320" y="107899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ANTES DE TOCAR ZAPIER — Define tu proceso en IO/RE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36192"/>
            <a:ext cx="2816352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1453896" y="1463040"/>
            <a:ext cx="457200" cy="457200"/>
          </a:xfrm>
          <a:prstGeom prst="lin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453896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1993392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Gestión 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Reclamaciones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2596896"/>
            <a:ext cx="2542032" cy="548640"/>
          </a:xfrm>
          <a:prstGeom prst="rect">
            <a:avLst/>
          </a:prstGeom>
          <a:solidFill>
            <a:srgbClr val="F5F2EC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38912" y="2596896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188720" y="2615184"/>
            <a:ext cx="16642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Nuevo email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 queja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3273552"/>
            <a:ext cx="254203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38912" y="327355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1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188720" y="3291840"/>
            <a:ext cx="16642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Clasificar 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responder / escalar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1480" y="3950208"/>
            <a:ext cx="254203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38912" y="395020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2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188720" y="3968496"/>
            <a:ext cx="16642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Registrar en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hoja de casos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73552" y="1536192"/>
            <a:ext cx="2816352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4453128" y="1463040"/>
            <a:ext cx="457200" cy="457200"/>
          </a:xfrm>
          <a:prstGeom prst="line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453128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10712" y="1993392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6B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E6B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Stock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10712" y="2596896"/>
            <a:ext cx="2542032" cy="548640"/>
          </a:xfrm>
          <a:prstGeom prst="rect">
            <a:avLst/>
          </a:prstGeom>
          <a:solidFill>
            <a:srgbClr val="F5F2EC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3438144" y="2596896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E6B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187952" y="2615184"/>
            <a:ext cx="16642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 baja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mínimo en Sheets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410712" y="3273552"/>
            <a:ext cx="254203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3438144" y="327355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E6B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1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187952" y="3291840"/>
            <a:ext cx="16642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Email/Slack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 responsable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10712" y="3950208"/>
            <a:ext cx="254203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3438144" y="395020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E6B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2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187952" y="3968496"/>
            <a:ext cx="16642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Crear pedido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preliminar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72784" y="1536192"/>
            <a:ext cx="2816352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7452360" y="1463040"/>
            <a:ext cx="457200" cy="457200"/>
          </a:xfrm>
          <a:prstGeom prst="line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74523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9944" y="1993392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7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7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Diario OEE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09944" y="2596896"/>
            <a:ext cx="2542032" cy="548640"/>
          </a:xfrm>
          <a:prstGeom prst="rect">
            <a:avLst/>
          </a:prstGeom>
          <a:solidFill>
            <a:srgbClr val="F5F2EC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6437376" y="2596896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D7C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187184" y="2615184"/>
            <a:ext cx="16642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Cada día 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06:00h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09944" y="3273552"/>
            <a:ext cx="254203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6437376" y="327355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D7C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1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187184" y="3291840"/>
            <a:ext cx="16642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Leer hoja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producción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409944" y="3950208"/>
            <a:ext cx="254203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6437376" y="395020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D7C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2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187184" y="3968496"/>
            <a:ext cx="16642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Enviar resumen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 email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74320" y="4663440"/>
            <a:ext cx="8595360" cy="256032"/>
          </a:xfrm>
          <a:prstGeom prst="rect">
            <a:avLst/>
          </a:prstGeom>
          <a:solidFill>
            <a:srgbClr val="F5F2EC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274320" y="46634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 err="1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Alternativamente</a:t>
            </a:r>
            <a:r>
              <a:rPr lang="en-US" sz="900" i="1" dirty="0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</a:t>
            </a:r>
            <a:r>
              <a:rPr lang="en-US" sz="900" i="1" dirty="0" err="1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</a:t>
            </a:r>
            <a:r>
              <a:rPr lang="en-US" sz="900" i="1" dirty="0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00" i="1" dirty="0" err="1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</a:t>
            </a:r>
            <a:r>
              <a:rPr lang="en-US" sz="900" i="1" dirty="0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00" i="1" dirty="0" err="1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propio</a:t>
            </a:r>
            <a:r>
              <a:rPr lang="en-US" sz="900" i="1" dirty="0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00" i="1" dirty="0" err="1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proceso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0" y="492404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de Procesos con Agentes Inteligentes · COIIAOC</a:t>
            </a:r>
            <a:endParaRPr lang="en-US" sz="65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5B3AC3B-4209-57C4-98A4-F4794B4F74CA}"/>
              </a:ext>
            </a:extLst>
          </p:cNvPr>
          <p:cNvGrpSpPr/>
          <p:nvPr/>
        </p:nvGrpSpPr>
        <p:grpSpPr>
          <a:xfrm>
            <a:off x="320040" y="118872"/>
            <a:ext cx="475488" cy="256032"/>
            <a:chOff x="320040" y="118872"/>
            <a:chExt cx="475488" cy="256032"/>
          </a:xfrm>
        </p:grpSpPr>
        <p:sp>
          <p:nvSpPr>
            <p:cNvPr id="53" name="Shape 1">
              <a:extLst>
                <a:ext uri="{FF2B5EF4-FFF2-40B4-BE49-F238E27FC236}">
                  <a16:creationId xmlns:a16="http://schemas.microsoft.com/office/drawing/2014/main" id="{004E7F8A-A3D5-2E8D-D9B4-703B9CBAE5F5}"/>
                </a:ext>
              </a:extLst>
            </p:cNvPr>
            <p:cNvSpPr/>
            <p:nvPr/>
          </p:nvSpPr>
          <p:spPr>
            <a:xfrm>
              <a:off x="320040" y="118872"/>
              <a:ext cx="475488" cy="256032"/>
            </a:xfrm>
            <a:prstGeom prst="rect">
              <a:avLst/>
            </a:prstGeom>
            <a:solidFill>
              <a:srgbClr val="FF8C3B">
                <a:alpha val="85000"/>
              </a:srgbClr>
            </a:solidFill>
            <a:ln w="9525">
              <a:solidFill>
                <a:srgbClr val="FF8C3B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4" name="Text 2">
              <a:extLst>
                <a:ext uri="{FF2B5EF4-FFF2-40B4-BE49-F238E27FC236}">
                  <a16:creationId xmlns:a16="http://schemas.microsoft.com/office/drawing/2014/main" id="{4E81421D-F227-C9B4-AC8F-3A4FAB407B12}"/>
                </a:ext>
              </a:extLst>
            </p:cNvPr>
            <p:cNvSpPr/>
            <p:nvPr/>
          </p:nvSpPr>
          <p:spPr>
            <a:xfrm>
              <a:off x="320040" y="118872"/>
              <a:ext cx="47548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chemeClr val="bg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12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77824" y="12801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Trebuchet MS" pitchFamily="34" charset="0"/>
              </a:rPr>
              <a:t>TROUBLESHOOTING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2860"/>
          </a:xfrm>
          <a:prstGeom prst="rect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Problemas</a:t>
            </a: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600" b="1" dirty="0" err="1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frecuentes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8595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566928" cy="6583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74320" y="1115568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1887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Trigger no se dispara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08576" y="1170432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Verificar que la cuenta está conectada y la hoja tiene permisos de lectura. Usar el botón 'Probar trigger' antes de activar.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60120" y="14630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70432" y="1453896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Causa probable: cuenta no autenticada o evento mal configurado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1847088"/>
            <a:ext cx="8595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274320" y="1847088"/>
            <a:ext cx="566928" cy="6583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274320" y="1847088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19202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Campos vacíos en el Action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08576" y="1901952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datos del Trigger no se mapearon correctamente. Revisar las variables dinámicas {{campo}} en la configuración.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60120" y="21945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70432" y="2185416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Causa probable: cuenta no autenticada o evento mal configurado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578608"/>
            <a:ext cx="8595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274320" y="2578608"/>
            <a:ext cx="566928" cy="6583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274320" y="2578608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26517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de permisos de cuenta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08576" y="2633472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plan Free limita algunas apps. Asegurarse de usar sólo Gmail, Sheets y Slack gratuitos en el ejercicio.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60120" y="29260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70432" y="2916936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Causa probable: cuenta no autenticada o evento mal configurado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74320" y="3310128"/>
            <a:ext cx="8595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274320" y="3310128"/>
            <a:ext cx="566928" cy="6583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274320" y="3310128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0120" y="33832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Zap activo pero sin resultados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608576" y="3364992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Comprobar el historial de ejecuciones (pestaña 'Zap History'). Si aparece 'Filtered', revisar condiciones.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960120" y="36576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70432" y="3648456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Causa probable: cuenta no autenticada o evento mal configurado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4041648"/>
            <a:ext cx="8595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Shape 43"/>
          <p:cNvSpPr/>
          <p:nvPr/>
        </p:nvSpPr>
        <p:spPr>
          <a:xfrm>
            <a:off x="274320" y="4041648"/>
            <a:ext cx="566928" cy="6583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274320" y="4041648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60120" y="41148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'Task limit reached' en plan Free</a:t>
            </a:r>
            <a:endParaRPr lang="en-US" sz="950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01CC556-6065-AE96-281C-EAB31805B267}"/>
              </a:ext>
            </a:extLst>
          </p:cNvPr>
          <p:cNvGrpSpPr/>
          <p:nvPr/>
        </p:nvGrpSpPr>
        <p:grpSpPr>
          <a:xfrm>
            <a:off x="3899916" y="1311511"/>
            <a:ext cx="594360" cy="3127248"/>
            <a:chOff x="3931920" y="1170432"/>
            <a:chExt cx="594360" cy="3127248"/>
          </a:xfrm>
        </p:grpSpPr>
        <p:sp>
          <p:nvSpPr>
            <p:cNvPr id="12" name="Shape 10"/>
            <p:cNvSpPr/>
            <p:nvPr/>
          </p:nvSpPr>
          <p:spPr>
            <a:xfrm>
              <a:off x="3931920" y="1170432"/>
              <a:ext cx="594360" cy="201168"/>
            </a:xfrm>
            <a:prstGeom prst="rect">
              <a:avLst/>
            </a:prstGeom>
            <a:solidFill>
              <a:srgbClr val="0D7C5A">
                <a:alpha val="90000"/>
              </a:srgbClr>
            </a:solidFill>
            <a:ln w="6350">
              <a:solidFill>
                <a:srgbClr val="0D7C5A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Text 11"/>
            <p:cNvSpPr/>
            <p:nvPr/>
          </p:nvSpPr>
          <p:spPr>
            <a:xfrm>
              <a:off x="3931920" y="1170432"/>
              <a:ext cx="594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chemeClr val="bg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SOLUCIÓN</a:t>
              </a:r>
              <a:endParaRPr lang="en-US" sz="650" dirty="0">
                <a:solidFill>
                  <a:schemeClr val="bg1"/>
                </a:solidFill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3931920" y="1901952"/>
              <a:ext cx="594360" cy="201168"/>
            </a:xfrm>
            <a:prstGeom prst="rect">
              <a:avLst/>
            </a:prstGeom>
            <a:solidFill>
              <a:srgbClr val="0D7C5A">
                <a:alpha val="90000"/>
              </a:srgbClr>
            </a:solidFill>
            <a:ln w="6350">
              <a:solidFill>
                <a:srgbClr val="0D7C5A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Text 20"/>
            <p:cNvSpPr/>
            <p:nvPr/>
          </p:nvSpPr>
          <p:spPr>
            <a:xfrm>
              <a:off x="3931920" y="1901952"/>
              <a:ext cx="594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chemeClr val="bg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SOLUCIÓN</a:t>
              </a:r>
              <a:endParaRPr lang="en-US" sz="650" dirty="0">
                <a:solidFill>
                  <a:schemeClr val="bg1"/>
                </a:solidFill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3931920" y="2633472"/>
              <a:ext cx="594360" cy="201168"/>
            </a:xfrm>
            <a:prstGeom prst="rect">
              <a:avLst/>
            </a:prstGeom>
            <a:solidFill>
              <a:srgbClr val="0D7C5A">
                <a:alpha val="90000"/>
              </a:srgbClr>
            </a:solidFill>
            <a:ln w="6350">
              <a:solidFill>
                <a:srgbClr val="0D7C5A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1" name="Text 29"/>
            <p:cNvSpPr/>
            <p:nvPr/>
          </p:nvSpPr>
          <p:spPr>
            <a:xfrm>
              <a:off x="3931920" y="2633472"/>
              <a:ext cx="594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chemeClr val="bg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SOLUCIÓN</a:t>
              </a:r>
              <a:endParaRPr lang="en-US" sz="650" dirty="0">
                <a:solidFill>
                  <a:schemeClr val="bg1"/>
                </a:solidFill>
              </a:endParaRPr>
            </a:p>
          </p:txBody>
        </p:sp>
        <p:sp>
          <p:nvSpPr>
            <p:cNvPr id="39" name="Shape 37"/>
            <p:cNvSpPr/>
            <p:nvPr/>
          </p:nvSpPr>
          <p:spPr>
            <a:xfrm>
              <a:off x="3931920" y="3364992"/>
              <a:ext cx="594360" cy="201168"/>
            </a:xfrm>
            <a:prstGeom prst="rect">
              <a:avLst/>
            </a:prstGeom>
            <a:solidFill>
              <a:srgbClr val="0D7C5A">
                <a:alpha val="90000"/>
              </a:srgbClr>
            </a:solidFill>
            <a:ln w="6350">
              <a:solidFill>
                <a:srgbClr val="0D7C5A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0" name="Text 38"/>
            <p:cNvSpPr/>
            <p:nvPr/>
          </p:nvSpPr>
          <p:spPr>
            <a:xfrm>
              <a:off x="3931920" y="3364992"/>
              <a:ext cx="594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chemeClr val="bg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SOLUCIÓN</a:t>
              </a:r>
              <a:endParaRPr lang="en-US" sz="650" dirty="0">
                <a:solidFill>
                  <a:schemeClr val="bg1"/>
                </a:solidFill>
              </a:endParaRPr>
            </a:p>
          </p:txBody>
        </p:sp>
        <p:sp>
          <p:nvSpPr>
            <p:cNvPr id="48" name="Shape 46"/>
            <p:cNvSpPr/>
            <p:nvPr/>
          </p:nvSpPr>
          <p:spPr>
            <a:xfrm>
              <a:off x="3931920" y="4096512"/>
              <a:ext cx="594360" cy="201168"/>
            </a:xfrm>
            <a:prstGeom prst="rect">
              <a:avLst/>
            </a:prstGeom>
            <a:solidFill>
              <a:srgbClr val="0D7C5A">
                <a:alpha val="90000"/>
              </a:srgbClr>
            </a:solidFill>
            <a:ln w="6350">
              <a:solidFill>
                <a:srgbClr val="0D7C5A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9" name="Text 47"/>
            <p:cNvSpPr/>
            <p:nvPr/>
          </p:nvSpPr>
          <p:spPr>
            <a:xfrm>
              <a:off x="3931920" y="4096512"/>
              <a:ext cx="594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chemeClr val="bg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SOLUCIÓN</a:t>
              </a:r>
              <a:endParaRPr lang="en-US" sz="650" dirty="0">
                <a:solidFill>
                  <a:schemeClr val="bg1"/>
                </a:solidFill>
              </a:endParaRPr>
            </a:p>
          </p:txBody>
        </p:sp>
      </p:grpSp>
      <p:sp>
        <p:nvSpPr>
          <p:cNvPr id="50" name="Text 48"/>
          <p:cNvSpPr/>
          <p:nvPr/>
        </p:nvSpPr>
        <p:spPr>
          <a:xfrm>
            <a:off x="4608576" y="4096512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plan </a:t>
            </a:r>
            <a:r>
              <a:rPr lang="en-US" sz="850" dirty="0" err="1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gratuito</a:t>
            </a:r>
            <a:r>
              <a:rPr lang="en-US" sz="8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850" dirty="0" err="1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proporciona</a:t>
            </a:r>
            <a:r>
              <a:rPr lang="en-US" sz="8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100 tasks/</a:t>
            </a:r>
            <a:r>
              <a:rPr lang="en-US" sz="850" dirty="0" err="1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</a:t>
            </a:r>
            <a:r>
              <a:rPr lang="en-US" sz="8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 Pausar Zaps de prueba al terminar.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60120" y="43891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170432" y="4379976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Causa probable: cuenta no autenticada o evento mal configurado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0" y="492404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de Procesos con Agentes Inteligentes · COIIAOC</a:t>
            </a:r>
            <a:endParaRPr lang="en-US" sz="65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8D71E6A-9BF1-87B1-BBF2-A9F6360C9096}"/>
              </a:ext>
            </a:extLst>
          </p:cNvPr>
          <p:cNvGrpSpPr/>
          <p:nvPr/>
        </p:nvGrpSpPr>
        <p:grpSpPr>
          <a:xfrm>
            <a:off x="320040" y="118872"/>
            <a:ext cx="475488" cy="256032"/>
            <a:chOff x="320040" y="118872"/>
            <a:chExt cx="475488" cy="256032"/>
          </a:xfrm>
        </p:grpSpPr>
        <p:sp>
          <p:nvSpPr>
            <p:cNvPr id="55" name="Shape 1">
              <a:extLst>
                <a:ext uri="{FF2B5EF4-FFF2-40B4-BE49-F238E27FC236}">
                  <a16:creationId xmlns:a16="http://schemas.microsoft.com/office/drawing/2014/main" id="{C515F843-CDFF-16EC-1BE1-C6881CFBE7C3}"/>
                </a:ext>
              </a:extLst>
            </p:cNvPr>
            <p:cNvSpPr/>
            <p:nvPr/>
          </p:nvSpPr>
          <p:spPr>
            <a:xfrm>
              <a:off x="320040" y="118872"/>
              <a:ext cx="475488" cy="256032"/>
            </a:xfrm>
            <a:prstGeom prst="rect">
              <a:avLst/>
            </a:prstGeom>
            <a:solidFill>
              <a:srgbClr val="FF8C3B">
                <a:alpha val="85000"/>
              </a:srgbClr>
            </a:solidFill>
            <a:ln w="9525">
              <a:solidFill>
                <a:srgbClr val="FF8C3B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6" name="Text 2">
              <a:extLst>
                <a:ext uri="{FF2B5EF4-FFF2-40B4-BE49-F238E27FC236}">
                  <a16:creationId xmlns:a16="http://schemas.microsoft.com/office/drawing/2014/main" id="{6AB1EA3E-22B5-3854-94AE-B228E68C51E5}"/>
                </a:ext>
              </a:extLst>
            </p:cNvPr>
            <p:cNvSpPr/>
            <p:nvPr/>
          </p:nvSpPr>
          <p:spPr>
            <a:xfrm>
              <a:off x="320040" y="118872"/>
              <a:ext cx="47548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chemeClr val="bg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13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Ideas clave de hoy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566928"/>
          </a:xfrm>
          <a:prstGeom prst="rect">
            <a:avLst/>
          </a:prstGeom>
          <a:solidFill>
            <a:srgbClr val="162E4D"/>
          </a:solidFill>
          <a:ln w="9525">
            <a:solidFill>
              <a:srgbClr val="2E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64008" cy="566928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868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804672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Zapier = Trigger → (Filter) → Actions. Simple y lineal.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1499616"/>
            <a:ext cx="8503920" cy="566928"/>
          </a:xfrm>
          <a:prstGeom prst="rect">
            <a:avLst/>
          </a:prstGeom>
          <a:solidFill>
            <a:srgbClr val="162E4D"/>
          </a:solidFill>
          <a:ln w="9525">
            <a:solidFill>
              <a:srgbClr val="2E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320040" y="1499616"/>
            <a:ext cx="64008" cy="566928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56362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1499616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IO/RE primero — diseña el proceso antes de tocar la herramienta.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2194560"/>
            <a:ext cx="8503920" cy="566928"/>
          </a:xfrm>
          <a:prstGeom prst="rect">
            <a:avLst/>
          </a:prstGeom>
          <a:solidFill>
            <a:srgbClr val="162E4D"/>
          </a:solidFill>
          <a:ln w="9525">
            <a:solidFill>
              <a:srgbClr val="2E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9"/>
          <p:cNvSpPr/>
          <p:nvPr/>
        </p:nvSpPr>
        <p:spPr>
          <a:xfrm>
            <a:off x="320040" y="2194560"/>
            <a:ext cx="64008" cy="566928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25856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2960" y="219456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Free: 100 tasks/mes, suficiente para aprender y prototipar.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20040" y="2889504"/>
            <a:ext cx="8503920" cy="566928"/>
          </a:xfrm>
          <a:prstGeom prst="rect">
            <a:avLst/>
          </a:prstGeom>
          <a:solidFill>
            <a:srgbClr val="162E4D"/>
          </a:solidFill>
          <a:ln w="9525">
            <a:solidFill>
              <a:srgbClr val="2E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2"/>
          <p:cNvSpPr/>
          <p:nvPr/>
        </p:nvSpPr>
        <p:spPr>
          <a:xfrm>
            <a:off x="320040" y="2889504"/>
            <a:ext cx="64008" cy="566928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9535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2960" y="2889504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Cuando necesites lógica, bucles o APIs complejas → pasamos a n8n.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0040" y="3657600"/>
            <a:ext cx="4114800" cy="731520"/>
          </a:xfrm>
          <a:prstGeom prst="rect">
            <a:avLst/>
          </a:prstGeom>
          <a:solidFill>
            <a:srgbClr val="162E4D"/>
          </a:solidFill>
          <a:ln w="9525">
            <a:solidFill>
              <a:srgbClr val="2E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5"/>
          <p:cNvSpPr/>
          <p:nvPr/>
        </p:nvSpPr>
        <p:spPr>
          <a:xfrm>
            <a:off x="457200" y="36758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¿Cuándo salto a n8n?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457200" y="391363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Lógica compleja · Bucles · APIs industriales · IA embebida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4709160" y="3657600"/>
            <a:ext cx="4114800" cy="73152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18"/>
          <p:cNvSpPr/>
          <p:nvPr/>
        </p:nvSpPr>
        <p:spPr>
          <a:xfrm>
            <a:off x="4846320" y="36758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Próxima sesión →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846320" y="391363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4 · Orquestación Avanzada con n8n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Flujos condicionales, ramas y manejo de errores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0" y="492404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de Procesos con Agentes Inteligentes · COIIAOC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1265</Words>
  <Application>Microsoft Office PowerPoint</Application>
  <PresentationFormat>On-screen Show (16:9)</PresentationFormat>
  <Paragraphs>273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3 — Automatización Lineal con Zapier</dc:title>
  <dc:subject>PptxGenJS Presentation</dc:subject>
  <dc:creator>COIIAOC</dc:creator>
  <cp:lastModifiedBy>Bernardo Ronquillo Japon</cp:lastModifiedBy>
  <cp:revision>6</cp:revision>
  <dcterms:created xsi:type="dcterms:W3CDTF">2026-04-03T17:05:35Z</dcterms:created>
  <dcterms:modified xsi:type="dcterms:W3CDTF">2026-04-07T12:17:06Z</dcterms:modified>
</cp:coreProperties>
</file>