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78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01168" y="256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01168" y="594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 err="1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</a:t>
            </a:r>
            <a:r>
              <a:rPr lang="en-US" sz="900" kern="0" spc="15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96012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</a:t>
            </a:r>
            <a:r>
              <a:rPr lang="en-US" sz="36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 del Agente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" y="22402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temperatura, ventana de contexto y el prompt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especificación de ingeniería industrial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23760" y="77724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1168" y="3090672"/>
            <a:ext cx="5669280" cy="283464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8C3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" y="312724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31272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Cómo funciona un LLM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01168" y="3438144"/>
            <a:ext cx="5669280" cy="283464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8C3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" y="347472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" y="34747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El prompt como especificación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201168" y="3785616"/>
            <a:ext cx="5669280" cy="283464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8C3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" y="382219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8640" y="382219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Modos de fallo industriales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01168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LLM por dentro</a:t>
            </a:r>
            <a:endParaRPr lang="en-US" sz="4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2331720" cy="201168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2880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CONCEPTO FUNDACIONAL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669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LLM no ejecuta reglas — predice el siguiente token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402336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analogía del operario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 un operario que SOLO lee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hoja de instrucciones que tú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escribes.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memoria del turno anterior.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conoce la planta.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criterio propio.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sabe seguir instrucciones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bien — y de forma probabilística.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35331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617720" y="1353312"/>
            <a:ext cx="64008" cy="100584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736592" y="1408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36592" y="168249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mínima que procesa el LLM.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Aprox. 0,75 palabras.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"T-HORNO-04" = 4–5 tokens.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245059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617720" y="2450592"/>
            <a:ext cx="64008" cy="1005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736592" y="2505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36592" y="277977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la aleatoriedad.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determinista.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creativo, imprevisible.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354787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617720" y="3547872"/>
            <a:ext cx="64008" cy="100584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736592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Ventana de contexto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36592" y="387705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texto puede "recordar"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sola llamada.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k tokens ≈ 100 páginas.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2414016" cy="201168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2880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ESTRUCTURA DEL PROMPT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669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prompt tiene tres capas — y cada una importa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8430768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64008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75488" y="14081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9264" y="1408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408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El instructor escribe este prompt ANTES de desplegar el agente.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170078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ROL y el CONTEXTO permanente del agente.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«Eres un agente de mantenimiento en la planta L-04.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crítico de temperatura es 450 °C.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siempre en formato JSON con campos: accion, urgencia, justificacion.»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542032"/>
            <a:ext cx="84307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47472" y="2542032"/>
            <a:ext cx="64008" cy="109728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5488" y="2596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6B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9264" y="25968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Message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596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Lo genera el flujo automáticamente — n8n o nanobot lo construyen.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88950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INPUT en tiempo real: datos del sensor, alerta, petición del jefe de turno.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«Sensor T-HORNO-04: 491 °C · Límite: 450 °C · Activo: 18 min · Sin notas de turno.»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3730752"/>
            <a:ext cx="84307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47472" y="3730752"/>
            <a:ext cx="64008" cy="109728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75488" y="3785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7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9264" y="3785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C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Historial / Contexto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785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Gestionar el historial es responsabilidad del diseñador del agente.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4078224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previa dentro de la ventana de contexto.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al agente razonar sobre intercambios anteriores,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se borra al reiniciar. No hay memoria automática entre sesiones.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01168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DEMO EN VIVO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Mismo escenario L-04. Tres prompts. Tres respuestas distintas.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1207008"/>
            <a:ext cx="8577072" cy="1115568"/>
          </a:xfrm>
          <a:prstGeom prst="rect">
            <a:avLst/>
          </a:prstGeom>
          <a:solidFill>
            <a:srgbClr val="0D1F3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01168" y="1207008"/>
            <a:ext cx="64008" cy="11155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9184" y="12710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A · Vago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0" y="1261872"/>
            <a:ext cx="2286000" cy="219456"/>
          </a:xfrm>
          <a:prstGeom prst="rect">
            <a:avLst/>
          </a:prstGeom>
          <a:solidFill>
            <a:srgbClr val="B91C1C">
              <a:alpha val="75000"/>
            </a:srgbClr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400800" y="12710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INÚTIL EN PRODUCCIÓN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9184" y="15179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«Eres un asistente de planta. Ayuda al operario.»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" y="18013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genérica, sin formato, sin urgencia. Podría servir para cualquier cosa.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" y="2441448"/>
            <a:ext cx="8577072" cy="1115568"/>
          </a:xfrm>
          <a:prstGeom prst="rect">
            <a:avLst/>
          </a:prstGeom>
          <a:solidFill>
            <a:srgbClr val="0D1F3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01168" y="2441448"/>
            <a:ext cx="64008" cy="11155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29184" y="25054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B · Parcial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0" y="2496312"/>
            <a:ext cx="2286000" cy="219456"/>
          </a:xfrm>
          <a:prstGeom prst="rect">
            <a:avLst/>
          </a:prstGeom>
          <a:solidFill>
            <a:srgbClr val="B45309">
              <a:alpha val="75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400800" y="25054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INESTABLE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9184" y="27523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«Eres un agente de mantenimiento. El límite es 450 °C. Indica qué hacer.»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" y="30358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correcta pero impredecible en formato. A veces JSON, a veces texto libre.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" y="3675888"/>
            <a:ext cx="8577072" cy="1115568"/>
          </a:xfrm>
          <a:prstGeom prst="rect">
            <a:avLst/>
          </a:prstGeom>
          <a:solidFill>
            <a:srgbClr val="0D1F3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01168" y="3675888"/>
            <a:ext cx="64008" cy="1115568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29184" y="3739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C · Completo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3730752"/>
            <a:ext cx="2286000" cy="219456"/>
          </a:xfrm>
          <a:prstGeom prst="rect">
            <a:avLst/>
          </a:prstGeom>
          <a:solidFill>
            <a:srgbClr val="0D7C5A">
              <a:alpha val="75000"/>
            </a:srgbClr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400800" y="3739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LISTO PARA PRODUCCIÓN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9184" y="398678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«Eres agente de mantenimiento en L-04 [...] Responde SOLO en JSON: {accion, urgencia, justificacion}.»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" y="427024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{"accion": "EVACUACIÓN_INMEDIATA", "urgencia": "CRÍTICA", "justificacion": "491°C supera 450°C por 18 min."}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261872" cy="201168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2880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RIESGOS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669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Cuatro modos de fallo del LLM en contexto industrial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64008" cy="16642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47472" y="1353312"/>
            <a:ext cx="4069080" cy="329184"/>
          </a:xfrm>
          <a:prstGeom prst="rect">
            <a:avLst/>
          </a:prstGeom>
          <a:solidFill>
            <a:srgbClr val="B91C1C">
              <a:alpha val="12000"/>
            </a:srgbClr>
          </a:solidFill>
          <a:ln w="12700">
            <a:solidFill>
              <a:srgbClr val="B91C1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75488" y="140817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9536" y="14081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Alucinación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75564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inventa un valor de sensor, un procedimiento o un número de GMAO que no existe.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 sabe — responde con total confianza.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3136392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47472" y="3136392"/>
            <a:ext cx="64008" cy="16642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47472" y="3136392"/>
            <a:ext cx="4069080" cy="329184"/>
          </a:xfrm>
          <a:prstGeom prst="rect">
            <a:avLst/>
          </a:prstGeom>
          <a:solidFill>
            <a:srgbClr val="B91C1C">
              <a:alpha val="12000"/>
            </a:srgbClr>
          </a:solidFill>
          <a:ln w="12700">
            <a:solidFill>
              <a:srgbClr val="B91C1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75488" y="31912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9536" y="31912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Sensibilidad al orden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353872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orden de las instrucciones en el prompt puede invertir la decisión.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dato en distinto contexto = respuesta opuesta.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353312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663440" y="1353312"/>
            <a:ext cx="64008" cy="16642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63440" y="1353312"/>
            <a:ext cx="4069080" cy="329184"/>
          </a:xfrm>
          <a:prstGeom prst="rect">
            <a:avLst/>
          </a:prstGeom>
          <a:solidFill>
            <a:srgbClr val="B45309">
              <a:alpha val="12000"/>
            </a:srgbClr>
          </a:solidFill>
          <a:ln w="12700">
            <a:solidFill>
              <a:srgbClr val="B4530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791456" y="140817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75504" y="14081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Ambigüedad en instrucciones contradictorias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91456" y="175564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prompt dice «actúa rápido» y también «consulta siempre al jefe de turno»,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elige uno — no te dice que hay conflicto.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136392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663440" y="3136392"/>
            <a:ext cx="64008" cy="16642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663440" y="3136392"/>
            <a:ext cx="4069080" cy="329184"/>
          </a:xfrm>
          <a:prstGeom prst="rect">
            <a:avLst/>
          </a:prstGeom>
          <a:solidFill>
            <a:srgbClr val="B45309">
              <a:alpha val="12000"/>
            </a:srgbClr>
          </a:solidFill>
          <a:ln w="12700">
            <a:solidFill>
              <a:srgbClr val="B4530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791456" y="31912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75504" y="31912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memoria entre sesiones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353872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no sabe que L-04 lleva 3 días con anomalías.</a:t>
            </a:r>
            <a:endParaRPr lang="en-US" sz="9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llamada parte de cero si no se inyecta el historial explícitamente.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01168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· DISCUSIÓN GUIADA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Toma de decisions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tiempo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real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502920"/>
            <a:ext cx="1188720" cy="1188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1168" y="1353312"/>
            <a:ext cx="8577072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FF8C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292608" y="1517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necesitas saber del agente antes de darle autonomía en L-04?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01168" y="2103120"/>
            <a:ext cx="8577072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FF8C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292608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" y="22128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riesgo toleras en una decisión de evacuación automática?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1168" y="2852928"/>
            <a:ext cx="8577072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FF8C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92608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8368" y="296265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«el agente falla» y «el prompt estaba mal»?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01168" y="3602736"/>
            <a:ext cx="8577072" cy="640080"/>
          </a:xfrm>
          <a:prstGeom prst="rect">
            <a:avLst/>
          </a:prstGeom>
          <a:solidFill>
            <a:srgbClr val="0D1F35"/>
          </a:solidFill>
          <a:ln w="12700">
            <a:solidFill>
              <a:srgbClr val="FF8C3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3767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8368" y="371246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sabrías que el agente se está equivocando si no lo supervisas?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01168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18288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prompt como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especificación de ingeniería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223760" y="1737360"/>
            <a:ext cx="1554480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2084832" cy="201168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2880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· DISEÑO DE PROMPTS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669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system prompt industrial debe cumplir seis criterios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64008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75488" y="14173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96112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 explícito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el agente, en qué planta, con qué competencia.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523744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47472" y="2523744"/>
            <a:ext cx="64008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75488" y="2587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96112" y="2587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Límites de decisión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9077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decidir solo y qué debe escalar al humano.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3694176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47472" y="3694176"/>
            <a:ext cx="64008" cy="105156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75488" y="37581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96112" y="37581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Formato de salida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40782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texto libre, tabla — siempre especificado.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72584" y="1353312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672584" y="1353312"/>
            <a:ext cx="64008" cy="105156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800600" y="14173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21224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Ejemplos (few-shot)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1737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 tres casos resueltos para anclar el razonamiento.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72584" y="2523744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672584" y="2523744"/>
            <a:ext cx="64008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800600" y="2587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21224" y="2587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Umbral de urgencia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9077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constituye CRÍTICO vs. AVISO vs. INFO.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72584" y="3694176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4672584" y="3694176"/>
            <a:ext cx="64008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800600" y="37581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21224" y="37581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ambigüedades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40782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instrucción, una interpretación. Sin contradicciones.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2167128" cy="201168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2880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· FEW-SHOT PROMPTING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66928"/>
            <a:ext cx="68270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Incluir ejemplos resueltos ancla el razonamiento del agente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1325880"/>
            <a:ext cx="8430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LLMs aprenden del contexto inmediato. Dos ejemplos bien elegidos valen más que cinco párrafos de instrucciones.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783080"/>
            <a:ext cx="843076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47472" y="1783080"/>
            <a:ext cx="64008" cy="1234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75488" y="18379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1 — Aviso moderado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21031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{"sensor": "T-HORNO-04", "valor": 462, "limite": 450, "minutos": 3}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{"accion": "AVISO_SUPERVISOR", "urgencia": "MEDIA",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"justificacion": "Supera límite 2.7% · Tiempo &lt; 5 min · Monitorear."}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3108960"/>
            <a:ext cx="843076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47472" y="3108960"/>
            <a:ext cx="64008" cy="1234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75488" y="31638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2 — Crítico (escenario L-04)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34290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{"sensor": "T-HORNO-04", "valor": 491, "limite": 450, "minutos": 18}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{"accion": "EVACUACIÓN_INMEDIATA", "urgencia": "CRÍTICA",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"justificacion": "491°C = +9% sobre límite · Activo 18 min · Sin notas turno."}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9AB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Automatización de Procesos con Agentes Inteligentes · COIIAOC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92608"/>
            <a:ext cx="1755648" cy="201168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47472" y="2880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· TALLER GUIADO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6692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Diseña el system prompt para el agente L-04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8430768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· Individual · Usa la hoja de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938528"/>
            <a:ext cx="84307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47472" y="1938528"/>
            <a:ext cx="64008" cy="45720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02920" y="2029968"/>
            <a:ext cx="274320" cy="274320"/>
          </a:xfrm>
          <a:prstGeom prst="rect">
            <a:avLst/>
          </a:prstGeom>
          <a:solidFill>
            <a:srgbClr val="F5F2EC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12064" y="20299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0116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y contexto del agente (planta, sistema, responsabilidad)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468880"/>
            <a:ext cx="84307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47472" y="2468880"/>
            <a:ext cx="64008" cy="45720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02920" y="2560320"/>
            <a:ext cx="274320" cy="274320"/>
          </a:xfrm>
          <a:prstGeom prst="rect">
            <a:avLst/>
          </a:prstGeom>
          <a:solidFill>
            <a:srgbClr val="F5F2EC"/>
          </a:solidFill>
          <a:ln w="127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12064" y="25603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25420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decisión: qué decide solo / qué escala al humano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999232"/>
            <a:ext cx="84307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47472" y="2999232"/>
            <a:ext cx="64008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02920" y="3090672"/>
            <a:ext cx="274320" cy="274320"/>
          </a:xfrm>
          <a:prstGeom prst="rect">
            <a:avLst/>
          </a:prstGeom>
          <a:solidFill>
            <a:srgbClr val="F5F2EC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12064" y="30906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3072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urgencia: CRÍTICO / AVISO / INFO con valores concretos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529584"/>
            <a:ext cx="84307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47472" y="3529584"/>
            <a:ext cx="64008" cy="45720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502920" y="3621024"/>
            <a:ext cx="274320" cy="274320"/>
          </a:xfrm>
          <a:prstGeom prst="rect">
            <a:avLst/>
          </a:prstGeom>
          <a:solidFill>
            <a:srgbClr val="F5F2EC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12064" y="36210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" y="360273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salida: JSON con campos fijos (accion, urgencia, justificacion)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4059936"/>
            <a:ext cx="84307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47472" y="4059936"/>
            <a:ext cx="64008" cy="457200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502920" y="4151376"/>
            <a:ext cx="274320" cy="274320"/>
          </a:xfrm>
          <a:prstGeom prst="rect">
            <a:avLst/>
          </a:prstGeom>
          <a:solidFill>
            <a:srgbClr val="F5F2EC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12064" y="41513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9B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" y="41330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 ejemplo few-shot resuelto integrado en el prompt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3B"/>
          </a:solidFill>
          <a:ln w="127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01168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FF8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· CIERRE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01168" y="566928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¿Cuándo está el prompt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listo para producción?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572768"/>
            <a:ext cx="8577072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FF8C3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949440" y="1636776"/>
            <a:ext cx="1737360" cy="256032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949440" y="16459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ESTABLE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el mismo formato en 10 ejecuciones sucesivas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1168" y="2249424"/>
            <a:ext cx="8577072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FF8C3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949440" y="2313432"/>
            <a:ext cx="1737360" cy="256032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949440" y="232257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COHERENTE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36829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correctamente a los dos ejemplos few-shot que incluye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" y="2926080"/>
            <a:ext cx="8577072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FF8C3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6949440" y="2990088"/>
            <a:ext cx="1737360" cy="256032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949440" y="29992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SEGURO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304495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al humano cuando la situación lo requiere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1168" y="3602736"/>
            <a:ext cx="8577072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FF8C3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949440" y="3666744"/>
            <a:ext cx="1737360" cy="256032"/>
          </a:xfrm>
          <a:prstGeom prst="rect">
            <a:avLst/>
          </a:prstGeom>
          <a:solidFill>
            <a:srgbClr val="0D7C5A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949440" y="3675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LEGIBLE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" y="372160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compañero lo lee y entiende qué hace el agente sin más contexto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4343400"/>
            <a:ext cx="8577072" cy="384048"/>
          </a:xfrm>
          <a:prstGeom prst="rect">
            <a:avLst/>
          </a:prstGeom>
          <a:solidFill>
            <a:srgbClr val="0D1F35"/>
          </a:solidFill>
          <a:ln w="12700">
            <a:solidFill>
              <a:srgbClr val="FF8C3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20040" y="437083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Evaluación y supervisión del agente: ¿cómo saber que el agente funciona bien en producción?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1205</Words>
  <Application>Microsoft Office PowerPoint</Application>
  <PresentationFormat>Presentación en pantalla (16:9)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I5 — El LLM como Cerebro del Agente</dc:title>
  <dc:subject>PptxGenJS Presentation</dc:subject>
  <dc:creator>Bernardo Ronquillo Japón</dc:creator>
  <cp:lastModifiedBy>Bernardo Ronquillo Japon</cp:lastModifiedBy>
  <cp:revision>3</cp:revision>
  <dcterms:created xsi:type="dcterms:W3CDTF">2026-04-14T16:02:10Z</dcterms:created>
  <dcterms:modified xsi:type="dcterms:W3CDTF">2026-04-14T17:21:22Z</dcterms:modified>
</cp:coreProperties>
</file>