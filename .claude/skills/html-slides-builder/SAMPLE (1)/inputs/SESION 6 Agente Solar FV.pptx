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3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10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9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COIIAOC · AUTOMATIZACIÓN DE PROCESOS CON AGENTES INTELIGENTES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</a:t>
            </a:r>
            <a:endParaRPr lang="en-US" sz="54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Solar FV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 err="1">
                <a:solidFill>
                  <a:srgbClr val="FF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r>
              <a:rPr lang="en-US" sz="2200" dirty="0">
                <a:solidFill>
                  <a:srgbClr val="FF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Workflows n8n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4572000" cy="548640"/>
          </a:xfrm>
          <a:prstGeom prst="rect">
            <a:avLst/>
          </a:prstGeom>
          <a:solidFill>
            <a:srgbClr val="FF8C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Sesión 6 · Desarrollo de Proyecto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Bernardo Ronquillo Japón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0 · APERTURA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del </a:t>
            </a: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0"/>
          </a:xfrm>
          <a:prstGeom prst="line">
            <a:avLst/>
          </a:prstGeom>
          <a:noFill/>
          <a:ln w="254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20624" y="2615184"/>
            <a:ext cx="256032" cy="2560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-9144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I1·I2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-22860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PRDA · IO/RE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61744" y="2615184"/>
            <a:ext cx="256032" cy="2560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24968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252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2864" y="2615184"/>
            <a:ext cx="256032" cy="2560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59080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364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43984" y="2615184"/>
            <a:ext cx="256032" cy="2560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93192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21096" y="2551176"/>
            <a:ext cx="384048" cy="384048"/>
          </a:xfrm>
          <a:prstGeom prst="ellipse">
            <a:avLst/>
          </a:prstGeom>
          <a:solidFill>
            <a:srgbClr val="C2510A"/>
          </a:solidFill>
          <a:ln w="381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27304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3588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FV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26224" y="2615184"/>
            <a:ext cx="256032" cy="2560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61416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7700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vuestro caso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67344" y="2615184"/>
            <a:ext cx="256032" cy="2560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955280" y="1874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I6+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18120" y="3063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curso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11">
            <a:extLst>
              <a:ext uri="{FF2B5EF4-FFF2-40B4-BE49-F238E27FC236}">
                <a16:creationId xmlns:a16="http://schemas.microsoft.com/office/drawing/2014/main" id="{CA494EB0-EFFB-E94C-8473-35E0C238CA65}"/>
              </a:ext>
            </a:extLst>
          </p:cNvPr>
          <p:cNvSpPr/>
          <p:nvPr/>
        </p:nvSpPr>
        <p:spPr>
          <a:xfrm>
            <a:off x="369027" y="2463655"/>
            <a:ext cx="404752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0 · APERTURA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7315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Salir del aula con los dos workflows funcionando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2708" y="2756263"/>
            <a:ext cx="502920" cy="50292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2820271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2788" y="2737975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32788" y="3030583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en clase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2708" y="3442063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Sistema FV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27448" y="2463655"/>
            <a:ext cx="404752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5737860" y="2737975"/>
            <a:ext cx="502920" cy="502920"/>
          </a:xfrm>
          <a:prstGeom prst="ellips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801983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77940" y="2719687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B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377940" y="3012295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EJERCICIO GUIADO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737860" y="3423775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Sistema FV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1 · EL 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sensor T-HORNO-04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29718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LÍNEA L-04 · 14:23h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8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491°C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operativo: 450°C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721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alerta: 18 minutos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turno previo: ninguna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</a:t>
            </a:r>
            <a:r>
              <a:rPr lang="en-US" sz="1100" b="1" kern="0" spc="300" dirty="0" err="1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0574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 un fallo grave o ruido del sensor?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338328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aviso al jefe de planta cada vez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falsa alarma erosiona la confianza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</a:t>
            </a:r>
            <a:r>
              <a:rPr lang="en-US" sz="1300" dirty="0" err="1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</a:t>
            </a: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aviso al jefe de planta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un fallo real escala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1 · EL 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Sensor al Sistema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743200" cy="384048"/>
          </a:xfrm>
          <a:prstGeom prst="rect">
            <a:avLst/>
          </a:prstGeom>
          <a:solidFill>
            <a:srgbClr val="F5F2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1600200"/>
            <a:ext cx="2788920" cy="384048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154680" y="16002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L-04 · T-HORNO-04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1600200"/>
            <a:ext cx="2788920" cy="384048"/>
          </a:xfrm>
          <a:prstGeom prst="rect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989320" y="16002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INSTALACIÓN SOLAR FV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8424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2920" y="1984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medida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984248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91840" y="19842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horno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1984248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126480" y="19842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inversor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41448"/>
            <a:ext cx="2743200" cy="45720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" y="2441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fuente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2441448"/>
            <a:ext cx="2788920" cy="45720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T-HORNO-04 (491 °C)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2441448"/>
            <a:ext cx="2788920" cy="45720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6126480" y="24414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 Fronius (W)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89864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502920" y="2898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2898648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291840" y="2898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°C (límite operativo)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2898648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126480" y="28986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P_esperada calculada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355848"/>
            <a:ext cx="2743200" cy="45720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02920" y="3355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54680" y="3355848"/>
            <a:ext cx="2788920" cy="45720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291840" y="3355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sobre límite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89320" y="3355848"/>
            <a:ext cx="2788920" cy="457200"/>
          </a:xfrm>
          <a:prstGeom prst="rect">
            <a:avLst/>
          </a:prstGeom>
          <a:solidFill>
            <a:srgbClr val="F5F2EC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6126480" y="33558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= (P_real−P_esp)/P_esp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813048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02920" y="3813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posibles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54680" y="3813048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3291840" y="3813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· Telegram · Parada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89320" y="3813048"/>
            <a:ext cx="2788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126480" y="38130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· Email · Telegram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1 · EL 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Degradación</a:t>
            </a: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 Sistema FV. </a:t>
            </a: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66420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1664208" cy="731520"/>
          </a:xfrm>
          <a:prstGeom prst="rect">
            <a:avLst/>
          </a:prstGeom>
          <a:solidFill>
            <a:srgbClr val="0D7C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6060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2004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7C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Meteo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3520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normal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(nubosidad, calor)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75688" y="1691640"/>
            <a:ext cx="166420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2075688" y="1691640"/>
            <a:ext cx="1664208" cy="73152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075688" y="1691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332" y="26060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75688" y="32004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Sombra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2167128" y="3520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Sombreado parcial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suciedad en paneles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785616" y="1691640"/>
            <a:ext cx="166420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3785616" y="1691640"/>
            <a:ext cx="1664208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/>
          <p:nvPr/>
        </p:nvSpPr>
        <p:spPr>
          <a:xfrm>
            <a:off x="3785616" y="1691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4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260604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85616" y="32004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3877056" y="3520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de string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módulo FV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95544" y="1691640"/>
            <a:ext cx="166420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0"/>
          <p:cNvSpPr/>
          <p:nvPr/>
        </p:nvSpPr>
        <p:spPr>
          <a:xfrm>
            <a:off x="5495544" y="1691640"/>
            <a:ext cx="1664208" cy="731520"/>
          </a:xfrm>
          <a:prstGeom prst="rect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5495544" y="1691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44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188" y="260604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95544" y="32004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Inversor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586984" y="3520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o desconexión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inversor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205472" y="1691640"/>
            <a:ext cx="166420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5"/>
          <p:cNvSpPr/>
          <p:nvPr/>
        </p:nvSpPr>
        <p:spPr>
          <a:xfrm>
            <a:off x="7205472" y="1691640"/>
            <a:ext cx="1664208" cy="73152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6"/>
          <p:cNvSpPr/>
          <p:nvPr/>
        </p:nvSpPr>
        <p:spPr>
          <a:xfrm>
            <a:off x="7205472" y="169164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44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6116" y="2606040"/>
            <a:ext cx="502920" cy="5029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205472" y="320040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7296912" y="35204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anómalo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fallo de sensor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ontología que el LLM y el clasificador baseline van a usar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1 · EL PROBLEMA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PDI = −12% · ¿</a:t>
            </a: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Cuál</a:t>
            </a: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 la causa?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P_real </a:t>
            </a:r>
            <a:r>
              <a:rPr lang="en-US" sz="2200" b="1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2 847 W</a:t>
            </a:r>
            <a:r>
              <a:rPr lang="en-US" sz="16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P_esp </a:t>
            </a:r>
            <a:r>
              <a:rPr lang="en-US" sz="2200" b="1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3 241 W</a:t>
            </a:r>
            <a:r>
              <a:rPr lang="en-US" sz="16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PDI </a:t>
            </a:r>
            <a:r>
              <a:rPr lang="en-US" sz="2200" b="1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−12.1%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0D7C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 una nube · es normal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60604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4800600" y="27432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800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94960" y="26060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Polvo o sombra parcial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4747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string degradándose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3474720"/>
            <a:ext cx="41148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800600" y="3611880"/>
            <a:ext cx="457200" cy="45720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006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4747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sensor está mal calibrado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deterministas no resuelven la ambigüedad — necesitamos juicio semántico.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8C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PRINCIPIO E5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LLM no calcula · solo clasifica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114800" cy="2651760"/>
          </a:xfrm>
          <a:prstGeom prst="rect">
            <a:avLst/>
          </a:prstGeom>
          <a:solidFill>
            <a:srgbClr val="0D1A26"/>
          </a:solidFill>
          <a:ln w="254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828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ANTIPATRÓN E4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LLM calcula los números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834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 G_ef=731, T_amb=22°C,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β_temp=−0.004, calcula P_esp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 dime si 2847W es anómalo."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deriva numérica silenciosa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645920"/>
            <a:ext cx="4114800" cy="2651760"/>
          </a:xfrm>
          <a:prstGeom prst="rect">
            <a:avLst/>
          </a:prstGeom>
          <a:solidFill>
            <a:srgbClr val="0D1A26"/>
          </a:solidFill>
          <a:ln w="254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288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8288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PATRÓN E5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4632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n8n calcula · LLM clasifica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846320" y="28346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"P_real=2847W · P_esp=3241W ·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PDI=−12.1% · G_ef=731 · C=18%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Clasifica la causa."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4632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8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trazabilidad y reproducibilidad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workflows · </a:t>
            </a: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Conectados</a:t>
            </a: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por Webhook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7490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749040" cy="45720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A · SIMULADOR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274320" cy="27432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cada 5 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98064"/>
            <a:ext cx="274320" cy="27432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5234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condiciones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18688"/>
            <a:ext cx="274320" cy="27432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008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1729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física + PDI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639312"/>
            <a:ext cx="274320" cy="27432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4008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593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If: ¿escalar?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274320" cy="274320"/>
          </a:xfrm>
          <a:prstGeom prst="ellipse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64008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0142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al webhook 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325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kern="0" spc="100" dirty="0">
                <a:solidFill>
                  <a:srgbClr val="2E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LLM · solo física</a:t>
            </a:r>
            <a:endParaRPr lang="en-US" sz="9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926080"/>
            <a:ext cx="640080" cy="6400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6052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kern="0" spc="1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29200" y="1691640"/>
            <a:ext cx="374904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5029200" y="1691640"/>
            <a:ext cx="3749040" cy="457200"/>
          </a:xfrm>
          <a:prstGeom prst="rect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50292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B · AGENTE MONITOR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303520" y="2377440"/>
            <a:ext cx="274320" cy="274320"/>
          </a:xfrm>
          <a:prstGeom prst="ellips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53035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669280" y="23317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recibe payload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303520" y="2798064"/>
            <a:ext cx="274320" cy="274320"/>
          </a:xfrm>
          <a:prstGeom prst="ellips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530352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0" y="275234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Set: recálculo P_esp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303520" y="3218688"/>
            <a:ext cx="274320" cy="274320"/>
          </a:xfrm>
          <a:prstGeom prst="ellips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530352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669280" y="31729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baseline + prompt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303520" y="3639312"/>
            <a:ext cx="274320" cy="274320"/>
          </a:xfrm>
          <a:prstGeom prst="ellips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530352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669280" y="3593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API Anthropic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303520" y="4059936"/>
            <a:ext cx="274320" cy="274320"/>
          </a:xfrm>
          <a:prstGeom prst="ellips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530352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669280" y="401421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+ acción A/B/C/D/E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029200" y="4325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kern="0" spc="1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LLM · juicio semántico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Model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Inversor produce 1 500 W ahora · ¿es normal o es fallo?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D7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HAY MUCHAS NUBES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Situación</a:t>
            </a: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normal —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Explicada</a:t>
            </a: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por la </a:t>
            </a:r>
            <a:r>
              <a:rPr lang="en-US" sz="1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física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487002"/>
            <a:ext cx="3749040" cy="307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alertar. Solo registrar.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EL CIELO ESTÁ DESPEJADO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</a:t>
            </a:r>
            <a:r>
              <a:rPr lang="en-US" sz="1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fallo</a:t>
            </a: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</a:t>
            </a:r>
          </a:p>
          <a:p>
            <a:pPr marL="0" indent="0">
              <a:buNone/>
            </a:pPr>
            <a:r>
              <a:rPr lang="en-US" sz="1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Disminución</a:t>
            </a: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la </a:t>
            </a:r>
            <a:r>
              <a:rPr lang="en-US" sz="1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producción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487002"/>
            <a:ext cx="3749040" cy="307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escalar y diagnosticar la causa.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World Model calcula la </a:t>
            </a:r>
            <a:r>
              <a:rPr lang="en-US" sz="1400" b="1" i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P_esperada </a:t>
            </a:r>
            <a:r>
              <a:rPr lang="en-US" sz="1400" i="1" dirty="0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400" i="1" dirty="0" err="1">
                <a:solidFill>
                  <a:srgbClr val="C2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Formulación</a:t>
            </a: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Matemática</a:t>
            </a:r>
            <a:endParaRPr lang="en-US" sz="2600" b="1" dirty="0">
              <a:solidFill>
                <a:srgbClr val="1E3A5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1280160" cy="45720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Irradiancia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extraterrestre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09928" y="2377440"/>
            <a:ext cx="128016" cy="274320"/>
          </a:xfrm>
          <a:prstGeom prst="lin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856232" y="178308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B9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856232" y="1783080"/>
            <a:ext cx="1280160" cy="45720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856232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G_ef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01952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geometría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nubosidad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2377440"/>
            <a:ext cx="128016" cy="274320"/>
          </a:xfrm>
          <a:prstGeom prst="lin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300984" y="178308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300984" y="1783080"/>
            <a:ext cx="1280160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300984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T_cel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46704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célula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99432" y="2377440"/>
            <a:ext cx="128016" cy="274320"/>
          </a:xfrm>
          <a:prstGeom prst="lin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745736" y="178308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45736" y="1783080"/>
            <a:ext cx="1280160" cy="457200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4745736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k_temp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91456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térmica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44184" y="2377440"/>
            <a:ext cx="128016" cy="274320"/>
          </a:xfrm>
          <a:prstGeom prst="lin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190488" y="178308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6190488" y="1783080"/>
            <a:ext cx="1280160" cy="457200"/>
          </a:xfrm>
          <a:prstGeom prst="rect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6190488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P_esp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36208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88936" y="2377440"/>
            <a:ext cx="128016" cy="274320"/>
          </a:xfrm>
          <a:prstGeom prst="line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7635240" y="1783080"/>
            <a:ext cx="128016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7635240" y="1783080"/>
            <a:ext cx="1280160" cy="457200"/>
          </a:xfrm>
          <a:prstGeom prst="rect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763524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80960" y="2331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respecto a real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PDI = (P_real − P_esp) / P_esp × 100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</a:t>
            </a:r>
            <a:r>
              <a:rPr lang="en-US" sz="13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</a:t>
            </a: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encapsulado</a:t>
            </a: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nodo Code de n8n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Memoria de </a:t>
            </a: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</a:t>
            </a: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697480" cy="777240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0391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ESTÁTICA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la instalación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operacionales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 de fallos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2331720" cy="0"/>
          </a:xfrm>
          <a:prstGeom prst="line">
            <a:avLst/>
          </a:prstGeom>
          <a:noFill/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 a:  </a:t>
            </a:r>
            <a:r>
              <a:rPr lang="en-US" sz="1000" b="1" dirty="0">
                <a:solidFill>
                  <a:srgbClr val="2E6B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actualiza:  </a:t>
            </a: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vez al instalar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31820" y="1600200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131820" y="1600200"/>
            <a:ext cx="2697480" cy="777240"/>
          </a:xfrm>
          <a:prstGeom prst="rect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14700" y="16459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00050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00500" y="20391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DINÁMICA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4700" y="2560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N lecturas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medio · tendencia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circular max=48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4700" y="3794760"/>
            <a:ext cx="2331720" cy="0"/>
          </a:xfrm>
          <a:prstGeom prst="line">
            <a:avLst/>
          </a:prstGeom>
          <a:noFill/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31470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 a:  </a:t>
            </a:r>
            <a:r>
              <a:rPr lang="en-US" sz="1000" b="1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prompt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actualiza:  </a:t>
            </a: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ciclo (5 min)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97880" y="1600200"/>
            <a:ext cx="26974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897880" y="1600200"/>
            <a:ext cx="2697480" cy="777240"/>
          </a:xfrm>
          <a:prstGeom prst="rect">
            <a:avLst/>
          </a:prstGeom>
          <a:solidFill>
            <a:srgbClr val="0D7C5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080760" y="16459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766560" y="1691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20391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DE INCIDENCIAS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56032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previos registrados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realizadas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técnicas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0760" y="3794760"/>
            <a:ext cx="2331720" cy="0"/>
          </a:xfrm>
          <a:prstGeom prst="line">
            <a:avLst/>
          </a:prstGeom>
          <a:noFill/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08076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 a:  </a:t>
            </a:r>
            <a:r>
              <a:rPr lang="en-US" sz="1000" b="1" dirty="0">
                <a:solidFill>
                  <a:srgbClr val="0D7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actualiza:  </a:t>
            </a:r>
            <a:endParaRPr lang="en-US" sz="900" dirty="0"/>
          </a:p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o por agente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alternativas de prompt · adoptamos la 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057400" cy="2331720"/>
          </a:xfrm>
          <a:prstGeom prst="rect">
            <a:avLst/>
          </a:prstGeom>
          <a:solidFill>
            <a:srgbClr val="F5F2EC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Mínimo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instrucciones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87168" y="1691640"/>
            <a:ext cx="2057400" cy="2331720"/>
          </a:xfrm>
          <a:prstGeom prst="rect">
            <a:avLst/>
          </a:prstGeom>
          <a:solidFill>
            <a:srgbClr val="FFFFFF"/>
          </a:solidFill>
          <a:ln w="38100">
            <a:solidFill>
              <a:srgbClr val="C2510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487168" y="1828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C251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2578608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24328" y="2971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completo + eventos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61488" y="3794760"/>
            <a:ext cx="1508760" cy="228600"/>
          </a:xfrm>
          <a:prstGeom prst="rect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761488" y="379476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ADOPTADA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1691640"/>
            <a:ext cx="2057400" cy="2331720"/>
          </a:xfrm>
          <a:prstGeom prst="rect">
            <a:avLst/>
          </a:prstGeom>
          <a:solidFill>
            <a:srgbClr val="F5F2EC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608576" y="1828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4700016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Ancla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45736" y="2971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como anclaje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0016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9984" y="1691640"/>
            <a:ext cx="2057400" cy="2331720"/>
          </a:xfrm>
          <a:prstGeom prst="rect">
            <a:avLst/>
          </a:prstGeom>
          <a:solidFill>
            <a:srgbClr val="F5F2EC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729984" y="182880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6B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6821424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67144" y="2971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explícito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21424" y="3520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~1300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entre contexto suficiente para razonar y presupuesto razonable de tokens.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8C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2 · ARQUITECTURA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3 </a:t>
            </a:r>
            <a:r>
              <a:rPr lang="en-US" sz="2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Reglas</a:t>
            </a: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n8n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97480" cy="2697480"/>
          </a:xfrm>
          <a:prstGeom prst="rect">
            <a:avLst/>
          </a:prstGeom>
          <a:solidFill>
            <a:srgbClr val="0D1A26"/>
          </a:solidFill>
          <a:ln w="254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8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· no variables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n8n los datos viven en </a:t>
            </a:r>
            <a:r>
              <a:rPr lang="en-US" sz="1200" b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$json</a:t>
            </a: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 variables del proceso.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Viajan entre nodos.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31820" y="1691640"/>
            <a:ext cx="2697480" cy="2697480"/>
          </a:xfrm>
          <a:prstGeom prst="rect">
            <a:avLst/>
          </a:prstGeom>
          <a:solidFill>
            <a:srgbClr val="0D1A26"/>
          </a:solidFill>
          <a:ln w="254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131820" y="18745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8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331470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Nodos · no funciones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470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en-US" sz="1200" dirty="0" err="1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responsabilidad clara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nodo separado.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691640"/>
            <a:ext cx="2697480" cy="2697480"/>
          </a:xfrm>
          <a:prstGeom prst="rect">
            <a:avLst/>
          </a:prstGeom>
          <a:solidFill>
            <a:srgbClr val="0D1A26"/>
          </a:solidFill>
          <a:ln w="25400">
            <a:solidFill>
              <a:srgbClr val="FF8C3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897880" y="187452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8C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16" name="Text 14"/>
          <p:cNvSpPr/>
          <p:nvPr/>
        </p:nvSpPr>
        <p:spPr>
          <a:xfrm>
            <a:off x="608076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· solo cuando hace falta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0760" y="3725838"/>
            <a:ext cx="2331720" cy="66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200" dirty="0" err="1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tiene nodo </a:t>
            </a:r>
            <a:r>
              <a:rPr lang="en-US" sz="1200" dirty="0" err="1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</a:t>
            </a:r>
            <a:r>
              <a:rPr lang="en-US" sz="1200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47594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A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COIIAOC · P2 · Agente Monitor Solar FV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713BDC9A-1D7A-4266-9ACB-AE8FCFE86B87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" name="Shape 0"/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" name="Text 1"/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 · 38</a:t>
              </a:r>
              <a:endParaRPr lang="en-US" sz="10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3 · WORKFLOW A ·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Nodo 1 · Schedule Trigger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675120" y="548640"/>
            <a:ext cx="1417320" cy="292608"/>
          </a:xfrm>
          <a:prstGeom prst="rect">
            <a:avLst/>
          </a:prstGeom>
          <a:solidFill>
            <a:srgbClr val="2E6B9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675120" y="5486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 TRIGGER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REEMPLAZA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time.sleep(300)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loop Python del cuaderno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57600" cy="0"/>
          </a:xfrm>
          <a:prstGeom prst="line">
            <a:avLst/>
          </a:prstGeom>
          <a:noFill/>
          <a:ln w="12700">
            <a:solidFill>
              <a:srgbClr val="E8E3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setInterval(fn, 300000)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artefacto HTML del simulador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CONFIGURACIÓN EN n8n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874520"/>
            <a:ext cx="4023360" cy="2103120"/>
          </a:xfrm>
          <a:prstGeom prst="rect">
            <a:avLst/>
          </a:prstGeom>
          <a:solidFill>
            <a:srgbClr val="0D1A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5 Minutes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8C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Zona horaria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AFA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Europe/Madrid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F5F2EC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87952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" y="40690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7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VERIFICACIÓN  </a:t>
            </a: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trigger se activa cada 5 minutos · si no, comprobar timezone del servidor n8n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3 · WORKFLOW A ·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2 · Set · Condiciones ambientales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105156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0" y="10698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SET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1874519"/>
          <a:ext cx="84124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EXPRESIÓN n8n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EQUIVALENTE PYTHON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hora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onsolas"/>
                        </a:rPr>
                        <a:t>{{ $now.hour + $now.minute/60 }}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cond.hora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dia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onsolas"/>
                        </a:rPr>
                        <a:t>{{ $now.ordinal }}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cond.dia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onsolas"/>
                        </a:rPr>
                        <a:t>18  (fijo en demo)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cond.cloud = 18.0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t_amb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onsolas"/>
                        </a:rPr>
                        <a:t>22  (fijo en demo)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cond.T_amb = 22.0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p_fallo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onsolas"/>
                        </a:rPr>
                        <a:t>0.20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cfg.p_fallo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447141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471416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tras Test Step, $json contiene los 5 campos · disponibles para el nodo Code siguiente.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EDD5A0-DA93-4E08-9896-61235A620D42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19" name="Shape 0">
              <a:extLst>
                <a:ext uri="{FF2B5EF4-FFF2-40B4-BE49-F238E27FC236}">
                  <a16:creationId xmlns:a16="http://schemas.microsoft.com/office/drawing/2014/main" id="{8DBBDCE1-E630-42F1-B0E7-8EEEE5EAD042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AA31B898-42AE-46D2-8266-11522424545A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228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8183880" y="228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38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 3 · WORKFLOW A ·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Nodo 3 · Code · Física completa + PDI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452360" y="548640"/>
            <a:ext cx="640080" cy="292608"/>
          </a:xfrm>
          <a:prstGeom prst="rect">
            <a:avLst/>
          </a:prstGeom>
          <a:solidFill>
            <a:srgbClr val="C2510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452360" y="548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funciones físicas + selección de modo + cadena de cálculo + PDI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declinacion · cosIncidencia · kNube · gEfectiva · tCelula · kTemp · gaussRandom · seleccionarModo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25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ESTRUCTURA DEL NODO CODE · 7 BLOQUES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8412480" cy="1554480"/>
          </a:xfrm>
          <a:prstGeom prst="rect">
            <a:avLst/>
          </a:prstGeom>
          <a:solidFill>
            <a:srgbClr val="0D1A2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54864" cy="1554480"/>
          </a:xfrm>
          <a:prstGeom prst="rect">
            <a:avLst/>
          </a:prstGeom>
          <a:solidFill>
            <a:srgbClr val="FF8C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8183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A9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Inputs del nodo Set   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hora = $json.hora; const dia = $json.dia; ...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A9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Constantes de instalación 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inst = { ppico: 5000, etaInv: 0.97, betaTemp: -0.004, ... };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A9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3-6. Funciones · selección modo · cadena cálculo · timestamp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7DA9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7. Retorno (formato n8n obligatorio)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8DC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[{ json: { timestamp, p_real_w, p_esp_w, PDI, modo, ... } }];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F5F2EC"/>
          </a:solidFill>
          <a:ln w="12700">
            <a:solidFill>
              <a:srgbClr val="0D7C5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5196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4160520"/>
            <a:ext cx="7818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7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VERIFICACIÓN  </a:t>
            </a: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Step con hora=12, dia=114, cloud=18, t_amb=22, modo=normal · P_esp ≈ 4115 W (±0.5)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endParaRPr sz="1200">
              <a:solidFill>
                <a:srgbClr val="1C1C1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3 · WORKFLOW A ·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4 · If · ¿Hay que escalar al Workflow 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105156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0" y="10698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4721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CONDICIÓN COMPUESTA · OR ENTRE DOS REGLAS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67255"/>
            <a:ext cx="8412480" cy="123444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040407"/>
            <a:ext cx="8193024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0141B"/>
                </a:solidFill>
                <a:latin typeface="Consolas"/>
              </a:rPr>
              <a:t>Condición 1:   {{ $json.PDI }}   menor que   -20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1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0141B"/>
                </a:solidFill>
                <a:latin typeface="Consolas"/>
              </a:rPr>
              <a:t>      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1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0141B"/>
                </a:solidFill>
                <a:latin typeface="Consolas"/>
              </a:rPr>
              <a:t>Condición 2:   {{ $json.p_real_w }} = 0   AND   {{ $json.p_esp_w }} &gt; 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93135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</a:rPr>
              <a:t>TRUE  →  Nodo HTTP Request al Workflow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13175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6B6B"/>
                </a:solidFill>
                <a:latin typeface="Calibri"/>
              </a:rPr>
              <a:t>FALSE  →  Fin silencioso (NoOp)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07535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4244111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244111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forzar modo=offline en el nodo 2 · debe activar la rama TRUE · POST 200 OK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43AAC7C-ECE7-42F7-9D64-FE81F047F549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6" name="Shape 0">
              <a:extLst>
                <a:ext uri="{FF2B5EF4-FFF2-40B4-BE49-F238E27FC236}">
                  <a16:creationId xmlns:a16="http://schemas.microsoft.com/office/drawing/2014/main" id="{837FA610-B96E-441E-9562-F8D8D47FB856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Text 1">
              <a:extLst>
                <a:ext uri="{FF2B5EF4-FFF2-40B4-BE49-F238E27FC236}">
                  <a16:creationId xmlns:a16="http://schemas.microsoft.com/office/drawing/2014/main" id="{5DAF3907-53F4-4088-A172-9FAC2C984076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30464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3 · WORKFLOW A ·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5 · HTTP Request · POST al webhook de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105156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0" y="10698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HTTP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3634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CONFIGURACIÓN · BODY 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56385"/>
            <a:ext cx="8412480" cy="210312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029537"/>
            <a:ext cx="8193024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Método:   POST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URL:      http://localhost:5678/webhook-test/solar-monitor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Headers:  Content-Type: application/json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0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Body (JSON Raw):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  "timestamp"      : "{{ $json.timestamp }}",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  "p_real_w"       : {{ $json.p_real_w }},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  "p_esp_w"        : {{ $json.p_esp_w }},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  "g_ef_wm2"       : {{ $json.g_ef_wm2 }},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  "modo_simulacion": "{{ $json.modo }}"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96665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233241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233241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el Workflow B debe responder 200 · si timeout, comprobar que el path del webhook coincide.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50E2BB-CB7F-4BA6-8373-AFFC27B45DFF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1" name="Shape 0">
              <a:extLst>
                <a:ext uri="{FF2B5EF4-FFF2-40B4-BE49-F238E27FC236}">
                  <a16:creationId xmlns:a16="http://schemas.microsoft.com/office/drawing/2014/main" id="{FE4E7E22-2DD5-4A34-99FB-AE9CD3990447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0F5922B4-3388-4FBE-9E51-18D701C5D270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3 ·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Workflow A funcionando · todos tienen el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280160"/>
            <a:ext cx="5486400" cy="7315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371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workflow_A_solucion.json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91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importar en n8n  ·  desactivar Schedule  ·  pulsar  Test Workflow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42316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4231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441448"/>
            <a:ext cx="6126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libri"/>
              </a:rPr>
              <a:t>Importáis el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670048"/>
            <a:ext cx="6126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Settings → Import from file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301752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035808"/>
            <a:ext cx="6126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libri"/>
              </a:rPr>
              <a:t>Verificáis con Test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264408"/>
            <a:ext cx="6126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Cada nodo en aislamiento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0" y="361188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6118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630168"/>
            <a:ext cx="6126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libri"/>
              </a:rPr>
              <a:t>Listos para el Workflow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858768"/>
            <a:ext cx="6126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Ejercicio guiado · 40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434840"/>
            <a:ext cx="91440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Ahora viene el Workflow B — vosotros construís y yo paso a apoyaros.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BC0AAC-A8EC-4DF4-B4D6-D6A6F032626C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7" name="Shape 0">
              <a:extLst>
                <a:ext uri="{FF2B5EF4-FFF2-40B4-BE49-F238E27FC236}">
                  <a16:creationId xmlns:a16="http://schemas.microsoft.com/office/drawing/2014/main" id="{F3D9BED5-419F-4280-AB87-E548C466C3B0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Text 1">
              <a:extLst>
                <a:ext uri="{FF2B5EF4-FFF2-40B4-BE49-F238E27FC236}">
                  <a16:creationId xmlns:a16="http://schemas.microsoft.com/office/drawing/2014/main" id="{C4BE704F-697A-4570-9277-92CCEA687E4A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IO/RE del Workflow B · y arranque del ejercicio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El ejercicio termina en la CLASIFICACIÓN del evento. Las acciones (Sheets/Gmail/Telegram) quedan fuera del alcance.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payload del Workflow 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historial en Static 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credencial Gemini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1508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A33D"/>
                </a:solidFill>
                <a:latin typeface="Calibri"/>
              </a:rP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874519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clase A/B/C/D/E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confianza del LLM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mensaje en español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1508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REGLAS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874519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baseline antes que LLM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recálculo P_esp para E5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una respuesta por ciclo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1417320"/>
            <a:ext cx="20116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15087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EXCEPCIONES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1874519"/>
            <a:ext cx="1828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Content-Type text/plain → 1b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JSON LLM inválido → 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API timeout → reintento ×3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Importad workflow_B_template.json (versión Gemini) · empezamos en el nodo 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8E2966-26E4-4D06-9D1C-A7DEB2D99AC8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5" name="Shape 0">
              <a:extLst>
                <a:ext uri="{FF2B5EF4-FFF2-40B4-BE49-F238E27FC236}">
                  <a16:creationId xmlns:a16="http://schemas.microsoft.com/office/drawing/2014/main" id="{6899F54F-1E96-4DBC-BEA6-9D139BA29F60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 1">
              <a:extLst>
                <a:ext uri="{FF2B5EF4-FFF2-40B4-BE49-F238E27FC236}">
                  <a16:creationId xmlns:a16="http://schemas.microsoft.com/office/drawing/2014/main" id="{DC484630-C154-4000-B69D-C2E32DDCE435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21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366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2200" b="1" i="0" dirty="0" err="1">
                <a:solidFill>
                  <a:srgbClr val="1B3A5C"/>
                </a:solidFill>
                <a:latin typeface="Calibri"/>
              </a:rPr>
              <a:t>Workflow</a:t>
            </a:r>
            <a:r>
              <a:rPr lang="es-ES" sz="2200" b="1" i="0" dirty="0">
                <a:solidFill>
                  <a:srgbClr val="1B3A5C"/>
                </a:solidFill>
                <a:latin typeface="Calibri"/>
              </a:rPr>
              <a:t> Agente Monitor Solar FV</a:t>
            </a:r>
            <a:endParaRPr sz="2200" b="1" i="0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624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6B6B6B"/>
                </a:solidFill>
                <a:latin typeface="Calibri"/>
              </a:rPr>
              <a:t>Sin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ramas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acción</a:t>
            </a:r>
            <a:endParaRPr lang="es-ES" sz="1200" dirty="0">
              <a:solidFill>
                <a:srgbClr val="6B6B6B"/>
              </a:solidFill>
              <a:latin typeface="Calibri"/>
            </a:endParaRP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b="0" i="0" dirty="0">
                <a:solidFill>
                  <a:srgbClr val="6B6B6B"/>
                </a:solidFill>
                <a:latin typeface="Calibri"/>
              </a:rPr>
              <a:t>El switch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separa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por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clase</a:t>
            </a:r>
            <a:endParaRPr lang="es-ES" sz="1200" dirty="0">
              <a:solidFill>
                <a:srgbClr val="6B6B6B"/>
              </a:solidFill>
              <a:latin typeface="Calibri"/>
            </a:endParaRP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6B6B6B"/>
                </a:solidFill>
                <a:latin typeface="Calibri"/>
              </a:rPr>
              <a:t>T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odas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las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salidas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convergen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el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Respond</a:t>
            </a:r>
            <a:r>
              <a:rPr lang="es-ES" sz="1200" b="0" i="0" dirty="0">
                <a:solidFill>
                  <a:srgbClr val="6B6B6B"/>
                </a:solidFill>
                <a:latin typeface="Calibri"/>
              </a:rPr>
              <a:t> del nodo </a:t>
            </a:r>
            <a:r>
              <a:rPr lang="es-ES" sz="1200" b="0" i="0" dirty="0" err="1">
                <a:solidFill>
                  <a:srgbClr val="6B6B6B"/>
                </a:solidFill>
                <a:latin typeface="Calibri"/>
              </a:rPr>
              <a:t>Webhook</a:t>
            </a:r>
            <a:endParaRPr sz="12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920240"/>
            <a:ext cx="960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1284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0141B"/>
                </a:solidFill>
                <a:latin typeface="Calibri"/>
              </a:rPr>
              <a:t>Webhook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344168" y="2286000"/>
            <a:ext cx="67926" cy="18288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30382" y="1920240"/>
            <a:ext cx="960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30382" y="199339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A33D"/>
                </a:solidFill>
                <a:latin typeface="Calibri"/>
              </a:rPr>
              <a:t>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102" y="221284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0141B"/>
                </a:solidFill>
                <a:latin typeface="Calibri"/>
              </a:rPr>
              <a:t>Normalizar body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408790" y="2286000"/>
            <a:ext cx="67926" cy="18288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495005" y="1920240"/>
            <a:ext cx="960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95005" y="199339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725" y="221284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0141B"/>
                </a:solidFill>
                <a:latin typeface="Calibri"/>
              </a:rPr>
              <a:t>Set: Recálculo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73413" y="2286000"/>
            <a:ext cx="67926" cy="18288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559628" y="1920240"/>
            <a:ext cx="960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59628" y="199339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5348" y="221284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0141B"/>
                </a:solidFill>
                <a:latin typeface="Calibri"/>
              </a:rPr>
              <a:t>Code: Baseline
+ Prompt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538036" y="2286000"/>
            <a:ext cx="67926" cy="18288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624251" y="1920240"/>
            <a:ext cx="960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4251" y="199339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8A33D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9971" y="221284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0141B"/>
                </a:solidFill>
                <a:latin typeface="Calibri"/>
              </a:rPr>
              <a:t>HTTP
Gemini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602659" y="2286000"/>
            <a:ext cx="67926" cy="18288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688874" y="1920240"/>
            <a:ext cx="960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88874" y="199339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4594" y="221284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0141B"/>
                </a:solidFill>
                <a:latin typeface="Calibri"/>
              </a:rPr>
              <a:t>Code: Parse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667282" y="2286000"/>
            <a:ext cx="67926" cy="18288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753497" y="1920240"/>
            <a:ext cx="960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53497" y="199339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99217" y="221284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0141B"/>
                </a:solidFill>
                <a:latin typeface="Calibri"/>
              </a:rPr>
              <a:t>Switch
A/B/C/D/E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731905" y="2286000"/>
            <a:ext cx="67926" cy="182880"/>
          </a:xfrm>
          <a:prstGeom prst="rightArrow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818119" y="1920240"/>
            <a:ext cx="960120" cy="8686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18119" y="199339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39" y="2212848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0141B"/>
                </a:solidFill>
                <a:latin typeface="Calibri"/>
              </a:rPr>
              <a:t>Respond to
Webhook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El nodo 1b se descubre como necesidad de seguridad: defiende frente a clientes que envían Content-Type: text/plain.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3611880"/>
            <a:ext cx="8412480" cy="3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 dirty="0" err="1">
                <a:solidFill>
                  <a:srgbClr val="1B3A5C"/>
                </a:solidFill>
                <a:latin typeface="Calibri"/>
              </a:rPr>
              <a:t>Tras</a:t>
            </a:r>
            <a:r>
              <a:rPr sz="11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B3A5C"/>
                </a:solidFill>
                <a:latin typeface="Calibri"/>
              </a:rPr>
              <a:t>el</a:t>
            </a:r>
            <a:r>
              <a:rPr sz="1100" b="1" i="0" dirty="0">
                <a:solidFill>
                  <a:srgbClr val="1B3A5C"/>
                </a:solidFill>
                <a:latin typeface="Calibri"/>
              </a:rPr>
              <a:t> Switch, los 5 outputs (A · B · C · D · E) </a:t>
            </a:r>
            <a:r>
              <a:rPr lang="es-ES" sz="1100" b="1" dirty="0">
                <a:solidFill>
                  <a:srgbClr val="1B3A5C"/>
                </a:solidFill>
                <a:latin typeface="Calibri"/>
              </a:rPr>
              <a:t>apuntan al nodo</a:t>
            </a:r>
            <a:r>
              <a:rPr sz="1100" b="1" i="0" dirty="0">
                <a:solidFill>
                  <a:srgbClr val="1B3A5C"/>
                </a:solidFill>
                <a:latin typeface="Calibri"/>
              </a:rPr>
              <a:t> Respond</a:t>
            </a:r>
            <a:endParaRPr lang="es-ES" sz="1100" b="1" dirty="0">
              <a:solidFill>
                <a:srgbClr val="1B3A5C"/>
              </a:solidFill>
              <a:latin typeface="Calibri"/>
            </a:endParaRPr>
          </a:p>
          <a:p>
            <a:pPr algn="ctr">
              <a:lnSpc>
                <a:spcPct val="115000"/>
              </a:lnSpc>
            </a:pPr>
            <a:r>
              <a:rPr sz="1100" b="1" i="0" dirty="0">
                <a:solidFill>
                  <a:srgbClr val="1B3A5C"/>
                </a:solidFill>
                <a:latin typeface="Calibri"/>
              </a:rPr>
              <a:t>La </a:t>
            </a:r>
            <a:r>
              <a:rPr sz="1100" b="1" i="0" dirty="0" err="1">
                <a:solidFill>
                  <a:srgbClr val="1B3A5C"/>
                </a:solidFill>
                <a:latin typeface="Calibri"/>
              </a:rPr>
              <a:t>clasificación</a:t>
            </a:r>
            <a:r>
              <a:rPr sz="1100" b="1" i="0" dirty="0">
                <a:solidFill>
                  <a:srgbClr val="1B3A5C"/>
                </a:solidFill>
                <a:latin typeface="Calibri"/>
              </a:rPr>
              <a:t> es </a:t>
            </a:r>
            <a:r>
              <a:rPr sz="1100" b="1" i="0" dirty="0" err="1">
                <a:solidFill>
                  <a:srgbClr val="1B3A5C"/>
                </a:solidFill>
                <a:latin typeface="Calibri"/>
              </a:rPr>
              <a:t>el</a:t>
            </a:r>
            <a:r>
              <a:rPr sz="11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B3A5C"/>
                </a:solidFill>
                <a:latin typeface="Calibri"/>
              </a:rPr>
              <a:t>resultado</a:t>
            </a:r>
            <a:r>
              <a:rPr sz="1100" b="1" i="0" dirty="0">
                <a:solidFill>
                  <a:srgbClr val="1B3A5C"/>
                </a:solidFill>
                <a:latin typeface="Calibri"/>
              </a:rPr>
              <a:t> final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7E03C04-44E6-4DF4-84D1-A7FB2DC092FF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44" name="Shape 0">
              <a:extLst>
                <a:ext uri="{FF2B5EF4-FFF2-40B4-BE49-F238E27FC236}">
                  <a16:creationId xmlns:a16="http://schemas.microsoft.com/office/drawing/2014/main" id="{AC6527FC-920F-45D7-900B-A97BD7C5A242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Text 1">
              <a:extLst>
                <a:ext uri="{FF2B5EF4-FFF2-40B4-BE49-F238E27FC236}">
                  <a16:creationId xmlns:a16="http://schemas.microsoft.com/office/drawing/2014/main" id="{88839C4F-73A4-4778-A96C-E01E31D0CD01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22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1 · Webhook · /solar-monitor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105156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0" y="10698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WEBHOOK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36775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CONFIGURACIÓN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56816"/>
            <a:ext cx="8412480" cy="118872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029968"/>
            <a:ext cx="8193024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0141B"/>
                </a:solidFill>
                <a:latin typeface="Consolas"/>
              </a:rPr>
              <a:t>Método:       POST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0141B"/>
                </a:solidFill>
                <a:latin typeface="Consolas"/>
              </a:rPr>
              <a:t>Path:         /solar-monitor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10141B"/>
                </a:solidFill>
                <a:latin typeface="Consolas"/>
              </a:rPr>
              <a:t>Responder:    Using "Respond to Webhook"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36976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ACCESO AL PAYLOAD desde el nodo siguiente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11295"/>
            <a:ext cx="8412480" cy="59436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584447"/>
            <a:ext cx="8193024" cy="448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$json.body.p_real_w   ·   $json.body.g_ef_wm2   ·   $json.body.cloud_cover_pct  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97096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23367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233672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al activar el Workflow A, el panel del Webhook debe mostrar el payload recibido.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409DD45-C368-4CFE-B7F6-8A1E7C42ACF8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4621C29F-E601-4C19-B798-57633114D43C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0EA32437-9D67-47BC-AACB-01E77FAE05BC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1b · Normalizar body · defensa de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132588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134416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78308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874519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EL BUG (sin este nodo)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94560"/>
            <a:ext cx="3931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Content-Type recibido: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6B6B6B"/>
                </a:solidFill>
                <a:latin typeface="Consolas"/>
              </a:rPr>
              <a:t>text/plain;charset=UTF-8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n8n NO parsea automáticamente.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6B6B6B"/>
                </a:solidFill>
                <a:latin typeface="Consolas"/>
              </a:rPr>
              <a:t>$json.body es string.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C0392B"/>
                </a:solidFill>
                <a:latin typeface="Consolas"/>
              </a:rPr>
              <a:t>$json.body.g_ef_wm2  →  undefined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Aritmética con undefined → NaN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783080"/>
            <a:ext cx="41148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600" y="1874519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</a:rPr>
              <a:t>EL FIX (3 líneas en un Code node)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194560"/>
            <a:ext cx="3840480" cy="150876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0328" y="2267712"/>
            <a:ext cx="3621024" cy="1362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const raw  = $json.body;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const body = (typeof raw === 'string')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    ? JSON.parse(raw) : raw;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0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return [{ json: { ...$json, body } }];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47141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471416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inyectar caso_A.json desde extensión Chrome (envía text/plain) · debe llegar parseado al nodo 2.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4C8AF07-86CD-4808-9B8E-C1C605F8C5B3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4" name="Shape 0">
              <a:extLst>
                <a:ext uri="{FF2B5EF4-FFF2-40B4-BE49-F238E27FC236}">
                  <a16:creationId xmlns:a16="http://schemas.microsoft.com/office/drawing/2014/main" id="{97485F84-CA50-4154-8B53-ACD282EFAC4D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Text 1">
              <a:extLst>
                <a:ext uri="{FF2B5EF4-FFF2-40B4-BE49-F238E27FC236}">
                  <a16:creationId xmlns:a16="http://schemas.microsoft.com/office/drawing/2014/main" id="{28D9E4E6-A89B-49C7-A03D-61B9057F7864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2 · Set · Recálculo P_esp (verificación E5)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105156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0" y="10698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SET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300784"/>
              </p:ext>
            </p:extLst>
          </p:nvPr>
        </p:nvGraphicFramePr>
        <p:xfrm>
          <a:off x="365760" y="1677923"/>
          <a:ext cx="84124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EXPRESIÓN n8n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EQUIVALENTE PYTHON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t_cel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i="0">
                          <a:solidFill>
                            <a:srgbClr val="10141B"/>
                          </a:solidFill>
                          <a:latin typeface="Consolas"/>
                        </a:rPr>
                        <a:t>{{ $json.body.t_amb_c + ($json.body.g_ef_wm2/800)*25 }}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i="0">
                          <a:solidFill>
                            <a:srgbClr val="10141B"/>
                          </a:solidFill>
                          <a:latin typeface="Calibri"/>
                        </a:rPr>
                        <a:t>T_celula(...)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k_temp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i="0">
                          <a:solidFill>
                            <a:srgbClr val="10141B"/>
                          </a:solidFill>
                          <a:latin typeface="Consolas"/>
                        </a:rPr>
                        <a:t>{{ 1 + (-0.004)*($json.t_cel - 25) }}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i="0">
                          <a:solidFill>
                            <a:srgbClr val="10141B"/>
                          </a:solidFill>
                          <a:latin typeface="Calibri"/>
                        </a:rPr>
                        <a:t>k_temp(...)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p_esp_recalc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i="0">
                          <a:solidFill>
                            <a:srgbClr val="10141B"/>
                          </a:solidFill>
                          <a:latin typeface="Consolas"/>
                        </a:rPr>
                        <a:t>{{ 5000*($json.body.g_ef_wm2/1000)*$json.k_temp*0.97 }}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i="0">
                          <a:solidFill>
                            <a:srgbClr val="10141B"/>
                          </a:solidFill>
                          <a:latin typeface="Calibri"/>
                        </a:rPr>
                        <a:t>P_esperada(...)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PDI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i="0">
                          <a:solidFill>
                            <a:srgbClr val="10141B"/>
                          </a:solidFill>
                          <a:latin typeface="Consolas"/>
                        </a:rPr>
                        <a:t>{{ ($json.body.p_real_w - $json.p_esp_recalc) / $json.p_esp_recalc * 100 }}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00" b="0" i="0">
                          <a:solidFill>
                            <a:srgbClr val="10141B"/>
                          </a:solidFill>
                          <a:latin typeface="Calibri"/>
                        </a:rPr>
                        <a:t>(P_real - P_esp)/P_esp*100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4238244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427482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274820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$json.p_esp_recalc debe diferir &lt; 1 W del p_esp_w enviado por el Workflow A.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2F22EA-4418-4717-B788-0299A48BE99F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19" name="Shape 0">
              <a:extLst>
                <a:ext uri="{FF2B5EF4-FFF2-40B4-BE49-F238E27FC236}">
                  <a16:creationId xmlns:a16="http://schemas.microsoft.com/office/drawing/2014/main" id="{CAA9A081-D633-4008-84CB-1F3C9E99FB3C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E4E27331-F90D-4942-8B34-A54E4EF5D10A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3 · Code · Baseline + Static Data +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0" y="105156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0" y="106984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00199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ESTRUCTURA DEL NODO CODE · 5 BLOQUES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8412480" cy="219456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1993392"/>
            <a:ext cx="8193024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// 1. Leer payload + Static Data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const sd = $getWorkflowStaticData('global'); if (!sd.hist) sd.hist = [];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0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// 2. Clasificador baseline (7 reglas: D · A · A_nube · D · C · B · E)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const { clase: baseCls, just } = clasificarBaseline(PDI, pReal, pEsp, cloud);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0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// 3. Push al historial · maxlen 48 con shift()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sd.hist.push({ ts, PDI, gt, base: baseCls });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if (sd.hist.length &gt; 48) sd.hist.shift();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10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10141B"/>
                </a:solidFill>
                <a:latin typeface="Consolas"/>
              </a:rPr>
              <a:t>// 4. PDI medio · tendencia      // 5. Ensamblar prompt (alternativa 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19709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97096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tras 3 ciclos · sd.hist.length debe ser 3 · system_prompt con perfil completo.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2F310E-2DC8-4E9D-9606-399D8625E289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1" name="Shape 0">
              <a:extLst>
                <a:ext uri="{FF2B5EF4-FFF2-40B4-BE49-F238E27FC236}">
                  <a16:creationId xmlns:a16="http://schemas.microsoft.com/office/drawing/2014/main" id="{AE5D4AEB-996F-45BA-8A5E-8A3F6F59BC70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A7373168-06A4-42BD-87E6-32D2A4DA2DDF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4 · HTTP Request · API Gemini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Cambiamos Anthropic por Gemini 2.5 Flash Lite. Más barato, más rápido — y veremos sus límites en el Acto 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137160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13898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HTTP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91690"/>
            <a:ext cx="8412480" cy="1874519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2164842"/>
            <a:ext cx="8193024" cy="1728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Método:        POST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URL:           https://generativelanguage.googleapis.com/v1beta/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           models/gemini-2.5-flash-lite:generateContent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Credencial:    Google Gemini(PaLM) Api  (predefined credential)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Body:  systemInstruction.parts[0].text  =  {{ JSON.stringify($json.system_prompt) }}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   contents[0].role = 'user'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   contents[0].parts[0].text       =  {{ JSON.stringify($json.user_prompt) }}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   generationConfig.maxOutputTokens = 200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03370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413994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139946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respuesta debe tener candidates[0].content.parts[0].text con JSON · Retry: 3×2s.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471FA55-1159-42FC-B36F-0B8C60A9A3F2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2" name="Shape 0">
              <a:extLst>
                <a:ext uri="{FF2B5EF4-FFF2-40B4-BE49-F238E27FC236}">
                  <a16:creationId xmlns:a16="http://schemas.microsoft.com/office/drawing/2014/main" id="{DC150AE2-F5DE-4048-B0B8-C59CAF84E991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3" name="Text 1">
              <a:extLst>
                <a:ext uri="{FF2B5EF4-FFF2-40B4-BE49-F238E27FC236}">
                  <a16:creationId xmlns:a16="http://schemas.microsoft.com/office/drawing/2014/main" id="{CC21FB82-9121-4EB6-8E01-58CA59E912FB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27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 5 · Code · Parse de la respuesta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Path de Gemini ≠ path de Anthropic. El código defiende ambos por si en P3 cambiáis de modelo.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1371600"/>
            <a:ext cx="1188720" cy="292608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13898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20176"/>
            <a:ext cx="8412480" cy="219456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093328"/>
            <a:ext cx="8193024" cy="20482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// Path universal — Anthropic primero, Gemini como fallback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const raw =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$json.content?.[0]?.text ||                              // Anthropic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$json.candidates?.[0]?.content?.parts?.[0]?.text ||      // Gemini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'';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const clean = raw.trim().replace(/```json|```/g, '').trim();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let causa, confianza, mensaje;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try {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const p = JSON.parse(clean);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causa = (p.causa||'E').toUpperCase(); confianza = parseFloat(p.confianza||0);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mensaje = p.mensaje || '';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} catch(e) { causa = 'E'; confianza = 0; mensaje = e.message;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51896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38847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388472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inyectar respuesta corrupta para verificar que cae a clase E sin romper el flujo.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2CE7D2A-989B-438E-B959-D8930077C0D6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1" name="Shape 0">
              <a:extLst>
                <a:ext uri="{FF2B5EF4-FFF2-40B4-BE49-F238E27FC236}">
                  <a16:creationId xmlns:a16="http://schemas.microsoft.com/office/drawing/2014/main" id="{FBDAD415-6ED9-4952-81C1-5FEB6DB4B96E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345E6579-219C-402B-9544-696DD4AD5E8A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28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WORKFLOW B · EJERCICIO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B3A5C"/>
                </a:solidFill>
                <a:latin typeface="Calibri"/>
              </a:rPr>
              <a:t>Nodos 6 y 8 · Switch por clase + Respond to Webhook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SWITCH · 5 reglas · todas con la misma estructura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4114800" cy="201168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764792"/>
            <a:ext cx="3895344" cy="1865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Output 0: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{{ $json.llm_causa }} == 'A'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Output 1: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{{ $json.llm_causa }} == 'B'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Output 2: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{{ $json.llm_causa }} == 'C'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Output 3: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{{ $json.llm_causa }} == 'D'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Output 4: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{{ $json.llm_causa }} == 'E'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3716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RESPOND TO WEBHOOK · cierra el HTTP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691640"/>
            <a:ext cx="4114800" cy="2011680"/>
          </a:xfrm>
          <a:prstGeom prst="rect">
            <a:avLst/>
          </a:prstGeom>
          <a:solidFill>
            <a:srgbClr val="F1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64792"/>
            <a:ext cx="3895344" cy="1865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Respond with:  JSON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Code:          200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Body: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{ "status"  : "ok",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"llm_causa": "{{ $json.llm_causa }}",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  "PDI"      : {{ $json.PDI }} }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endParaRPr sz="900" b="0" i="0">
              <a:solidFill>
                <a:srgbClr val="10141B"/>
              </a:solidFill>
              <a:latin typeface="Consolas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Conexiones: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Switch out 0..4  →  Respond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10141B"/>
                </a:solidFill>
                <a:latin typeface="Consolas"/>
              </a:rPr>
              <a:t>  (5 entradas paralelas)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4471416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2E7D32"/>
                </a:solidFill>
                <a:latin typeface="Calibri"/>
              </a:rPr>
              <a:t>✓ VERIFICACIÓN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471416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0141B"/>
                </a:solidFill>
                <a:latin typeface="Calibri"/>
              </a:rPr>
              <a:t>el panel del Workflow A debe mostrar 200 OK con el body recibido.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EDD72B-CFEB-41BA-8144-6DE2BA28AF23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0" name="Shape 0">
              <a:extLst>
                <a:ext uri="{FF2B5EF4-FFF2-40B4-BE49-F238E27FC236}">
                  <a16:creationId xmlns:a16="http://schemas.microsoft.com/office/drawing/2014/main" id="{6EFEC64C-7B8E-4958-A731-83A94EC6F25F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Text 1">
              <a:extLst>
                <a:ext uri="{FF2B5EF4-FFF2-40B4-BE49-F238E27FC236}">
                  <a16:creationId xmlns:a16="http://schemas.microsoft.com/office/drawing/2014/main" id="{65916990-3E4E-4713-8A7B-6AD1CC6A83FA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29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4 ·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366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dirty="0">
                <a:solidFill>
                  <a:srgbClr val="1B3A5C"/>
                </a:solidFill>
                <a:latin typeface="Calibri"/>
              </a:rPr>
              <a:t>Workflow B </a:t>
            </a:r>
            <a:r>
              <a:rPr sz="2200" b="1" i="0" dirty="0" err="1">
                <a:solidFill>
                  <a:srgbClr val="1B3A5C"/>
                </a:solidFill>
                <a:latin typeface="Calibri"/>
              </a:rPr>
              <a:t>funcionando</a:t>
            </a:r>
            <a:endParaRPr sz="2200" b="1" i="0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188720"/>
            <a:ext cx="5486400" cy="64008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280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workflow_B_solucion-Gemini.json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544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comparad con vuestra implementación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CASO DE VALIDACIÓN · inyectamos caso_C.json desde la extensión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828800" y="233172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hora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12:00 (mediodía)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cloud, T_amb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18 % · 22 °C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P_real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2 154 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P_esp_recalc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≈ 4 308 W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PDI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−50.0 %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Baseline esperado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i="0">
                          <a:solidFill>
                            <a:srgbClr val="1014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1B3A5C"/>
                          </a:solidFill>
                          <a:latin typeface="Calibri"/>
                        </a:rPr>
                        <a:t>LLM (Gemini)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 i="0">
                          <a:solidFill>
                            <a:srgbClr val="E8A33D"/>
                          </a:solidFill>
                          <a:latin typeface="Calibri"/>
                        </a:rPr>
                        <a:t>C  o  A   ← discutiremos por qué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4434840"/>
            <a:ext cx="91440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AA8B691-3BC7-4AE4-B6A9-99C9E6899F61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17" name="Shape 0">
              <a:extLst>
                <a:ext uri="{FF2B5EF4-FFF2-40B4-BE49-F238E27FC236}">
                  <a16:creationId xmlns:a16="http://schemas.microsoft.com/office/drawing/2014/main" id="{98E3CE6F-088F-45C3-A7E4-9ACA0B0BE754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Text 1">
              <a:extLst>
                <a:ext uri="{FF2B5EF4-FFF2-40B4-BE49-F238E27FC236}">
                  <a16:creationId xmlns:a16="http://schemas.microsoft.com/office/drawing/2014/main" id="{143B4703-270F-42B8-8149-4D531B372081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5 · LO APRENDIDO SOBRE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1B3A5C"/>
                </a:solidFill>
                <a:latin typeface="Calibri"/>
              </a:rPr>
              <a:t>5 </a:t>
            </a:r>
            <a:r>
              <a:rPr lang="es-ES" sz="2400" b="1" dirty="0">
                <a:solidFill>
                  <a:srgbClr val="1B3A5C"/>
                </a:solidFill>
                <a:latin typeface="Calibri"/>
              </a:rPr>
              <a:t>C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asos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· Baseline vs Claude 4.6 vs Gemini 2.5 Flash 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Mismo contexto físico (mediodía · 18 % nubosidad · P_esp ≈ 4 308 W). Sólo varía P_real.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17320"/>
          <a:ext cx="84582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Caso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P_real (W)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PDI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Claude 4.6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Gemini Flash Lite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Operación normal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4 308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A  ·  0.99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A  ·  1.00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Sombra / suciedad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3 231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−25 %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B  ·  0.82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392B"/>
                          </a:solidFill>
                          <a:latin typeface="Calibri"/>
                        </a:rPr>
                        <a:t>A  ·  0.90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Fallo de string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2 154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−50 %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C  ·  0.91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392B"/>
                          </a:solidFill>
                          <a:latin typeface="Calibri"/>
                        </a:rPr>
                        <a:t>A  ·  0.95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Inversor offline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−100 %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D  ·  0.97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D  ·  1.00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B3A5C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Sensor anómalo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6 461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+50 %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392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E  ·  0.85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392B"/>
                          </a:solidFill>
                          <a:latin typeface="Calibri"/>
                        </a:rPr>
                        <a:t>A  ·  0.95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4251960"/>
            <a:ext cx="841248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1B3A5C"/>
                </a:solidFill>
                <a:latin typeface="Calibri"/>
              </a:rPr>
              <a:t>Claude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acierta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los 5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casos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.   Gemini Flash Lite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falla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3 (B · C · E) —</a:t>
            </a:r>
            <a:r>
              <a:rPr lang="es-ES" sz="12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clasifica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como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A.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69181D-C944-44B3-8BFC-5C9ACBB79397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A58044FD-E34B-4C6F-8884-A3447087A6DF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DD17442C-985B-4AB2-8583-FFE555B85D1B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31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5 · LO APRENDIDO SOBRE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B3A5C"/>
                </a:solidFill>
                <a:latin typeface="Calibri"/>
              </a:rPr>
              <a:t>El caso E · cuando el LLM detecta lo que el código no puede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P_real = 6 461 W con instalación nominal de 5 000 W. Físicamente imposible.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7432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490472"/>
            <a:ext cx="25237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LECTURA DEL CASO 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01368"/>
            <a:ext cx="24688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P_real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     = 6 461 W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P_esp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      = 4 308 W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PDI         = +50 %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G_ef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       = 1 002 W/m²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Cloud       = 18 %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T_amb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      = 22 °C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T_célula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   = 53.3 °C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P_pico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instalación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: 5 000 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4173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490472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BASELINE (CÓDIGO)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01368"/>
            <a:ext cx="2423160" cy="1710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Aplica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la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regla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: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    if PDI ≥ −8  →  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PDI = +50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satisface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PDI ≥ −8.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→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Devuelve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clase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Sin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acceso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a la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potencia</a:t>
            </a:r>
            <a:endParaRPr sz="1100" b="0" i="0" dirty="0">
              <a:solidFill>
                <a:srgbClr val="10141B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nominal, no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puede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detectar</a:t>
            </a:r>
            <a:endParaRPr sz="1100" b="0" i="0" dirty="0">
              <a:solidFill>
                <a:srgbClr val="10141B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la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imposibilidad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física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4173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90488" y="1490472"/>
            <a:ext cx="24780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7D32"/>
                </a:solidFill>
                <a:latin typeface="Calibri"/>
              </a:rPr>
              <a:t>LLM (CLAUDE 4.6)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801368"/>
            <a:ext cx="24231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Razonamiento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cadena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1. 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P_real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= 6 461 W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2. 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P_pico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= 5 000 W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3.  6 461 &gt; 5 000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    →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físicamente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imposible</a:t>
            </a:r>
            <a:endParaRPr sz="1100" b="0" i="0" dirty="0">
              <a:solidFill>
                <a:srgbClr val="10141B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>
                <a:solidFill>
                  <a:srgbClr val="10141B"/>
                </a:solidFill>
                <a:latin typeface="Calibri"/>
              </a:rPr>
              <a:t>4.  → </a:t>
            </a:r>
            <a:r>
              <a:rPr sz="1100" b="0" i="0" dirty="0" err="1">
                <a:solidFill>
                  <a:srgbClr val="10141B"/>
                </a:solidFill>
                <a:latin typeface="Calibri"/>
              </a:rPr>
              <a:t>clase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 E (sensor)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100" b="0" i="0" dirty="0">
              <a:solidFill>
                <a:srgbClr val="10141B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 i="0" dirty="0" err="1">
                <a:solidFill>
                  <a:srgbClr val="10141B"/>
                </a:solidFill>
                <a:latin typeface="Calibri"/>
              </a:rPr>
              <a:t>confianza</a:t>
            </a:r>
            <a:r>
              <a:rPr sz="1100" b="0" i="0" dirty="0">
                <a:solidFill>
                  <a:srgbClr val="10141B"/>
                </a:solidFill>
                <a:latin typeface="Calibri"/>
              </a:rPr>
              <a:t>: 0.85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840480"/>
            <a:ext cx="8412480" cy="412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1B3A5C"/>
                </a:solidFill>
                <a:latin typeface="Calibri"/>
              </a:rPr>
              <a:t>El LLM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aporta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valor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donde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una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regla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por umbral no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llega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: integra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restricciones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físicas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externas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(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P_pico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, ±10 %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despejado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)</a:t>
            </a:r>
            <a:endParaRPr lang="es-ES" sz="1200" b="0" i="0" dirty="0">
              <a:solidFill>
                <a:srgbClr val="1B3A5C"/>
              </a:solidFill>
              <a:latin typeface="Calibri"/>
            </a:endParaRPr>
          </a:p>
          <a:p>
            <a:pPr algn="ctr">
              <a:lnSpc>
                <a:spcPct val="115000"/>
              </a:lnSpc>
            </a:pPr>
            <a:r>
              <a:rPr sz="1200" b="0" i="0" dirty="0">
                <a:solidFill>
                  <a:srgbClr val="1B3A5C"/>
                </a:solidFill>
                <a:latin typeface="Calibri"/>
              </a:rPr>
              <a:t>que no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están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los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datos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de entrada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pero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sí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en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su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B3A5C"/>
                </a:solidFill>
                <a:latin typeface="Calibri"/>
              </a:rPr>
              <a:t>contexto</a:t>
            </a:r>
            <a:r>
              <a:rPr sz="1200" b="0" i="0" dirty="0">
                <a:solidFill>
                  <a:srgbClr val="1B3A5C"/>
                </a:solidFill>
                <a:latin typeface="Calibri"/>
              </a:rPr>
              <a:t> </a:t>
            </a:r>
            <a:r>
              <a:rPr lang="es-ES" sz="1200" dirty="0">
                <a:solidFill>
                  <a:srgbClr val="1B3A5C"/>
                </a:solidFill>
                <a:latin typeface="Calibri"/>
              </a:rPr>
              <a:t>(</a:t>
            </a:r>
            <a:r>
              <a:rPr sz="1200" b="0" i="1" dirty="0">
                <a:solidFill>
                  <a:srgbClr val="1B3A5C"/>
                </a:solidFill>
                <a:latin typeface="Calibri"/>
              </a:rPr>
              <a:t>system prompt</a:t>
            </a:r>
            <a:r>
              <a:rPr lang="es-ES" sz="1200" b="0" i="0" dirty="0">
                <a:solidFill>
                  <a:srgbClr val="1B3A5C"/>
                </a:solidFill>
                <a:latin typeface="Calibri"/>
              </a:rPr>
              <a:t>)</a:t>
            </a:r>
            <a:endParaRPr sz="1200" b="0" i="0" dirty="0">
              <a:solidFill>
                <a:srgbClr val="1B3A5C"/>
              </a:solidFill>
              <a:latin typeface="Calibri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C3EE00C-BCEA-448E-AAC0-AFD836970E68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21" name="Shape 0">
              <a:extLst>
                <a:ext uri="{FF2B5EF4-FFF2-40B4-BE49-F238E27FC236}">
                  <a16:creationId xmlns:a16="http://schemas.microsoft.com/office/drawing/2014/main" id="{3432AA5E-95EC-4BF7-AB9C-F0E1C3C44887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Text 1">
              <a:extLst>
                <a:ext uri="{FF2B5EF4-FFF2-40B4-BE49-F238E27FC236}">
                  <a16:creationId xmlns:a16="http://schemas.microsoft.com/office/drawing/2014/main" id="{F32C9C00-5449-4948-B37F-335210EC3C98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32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5 · LO APRENDIDO SOBRE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1B3A5C"/>
                </a:solidFill>
                <a:latin typeface="Calibri"/>
              </a:rPr>
              <a:t>Gemini 2.5 Flash Lite se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desvía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hacia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1200" dirty="0">
                <a:solidFill>
                  <a:srgbClr val="6B6B6B"/>
                </a:solidFill>
                <a:latin typeface="Calibri"/>
              </a:rPr>
              <a:t>M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ecanismos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identificados</a:t>
            </a:r>
            <a:r>
              <a:rPr lang="es-ES" sz="1200" dirty="0">
                <a:solidFill>
                  <a:srgbClr val="6B6B6B"/>
                </a:solidFill>
                <a:latin typeface="Calibri"/>
              </a:rPr>
              <a:t>: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citas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literales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de los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mensajes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del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modelo</a:t>
            </a:r>
            <a:endParaRPr sz="12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4904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1 · NORMALCY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0141B"/>
                </a:solidFill>
                <a:latin typeface="Calibri"/>
              </a:rPr>
              <a:t>Prefiere clasificar como normal aunque el system prompt diga lo contrario.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"Ligera caída atribuible a condiciones meteorológicas (nubosidad leve o ligera variación de irradiancia no captada por el sensor)."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9748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B3A5C"/>
                </a:solidFill>
                <a:latin typeface="Calibri"/>
              </a:rPr>
              <a:t>→ Caso B · −25 %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41732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60" y="14904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A33D"/>
                </a:solidFill>
                <a:latin typeface="Calibri"/>
              </a:rPr>
              <a:t>2 · NO INTEGRA UMBRALES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78308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0141B"/>
                </a:solidFill>
                <a:latin typeface="Calibri"/>
              </a:rPr>
              <a:t>El system prompt fija ±10 % en despejado. Gemini ignora el umbral.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10312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"PDI ligeramente bajo para condiciones despejadas, posible efecto de temperatura o ligera suciedad."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9748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B3A5C"/>
                </a:solidFill>
                <a:latin typeface="Calibri"/>
              </a:rPr>
              <a:t>→ Caso C · −50 % (= 5× el umbral)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15468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2278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0392B"/>
                </a:solidFill>
                <a:latin typeface="Calibri"/>
              </a:rPr>
              <a:t>3 · SIN RAZONAMIENTO FÍSICO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20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0141B"/>
                </a:solidFill>
                <a:latin typeface="Calibri"/>
              </a:rPr>
              <a:t>No cruza P_real con la potencia nominal del sistema.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84048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"PDI superior al esperado en condiciones despejadas, sin causa aparente de fallo."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348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B3A5C"/>
                </a:solidFill>
                <a:latin typeface="Calibri"/>
              </a:rPr>
              <a:t>→ Caso E · 6 461 W &gt; 5 000 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3154680"/>
            <a:ext cx="4206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32278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8A33D"/>
                </a:solidFill>
                <a:latin typeface="Calibri"/>
              </a:rPr>
              <a:t>4 · IGNORA EVENTOS HISTÓRICOS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520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0141B"/>
                </a:solidFill>
                <a:latin typeface="Calibri"/>
              </a:rPr>
              <a:t>Claude cita la calima del 22-mar y el fusible string-3 del 15-ene. Gemini no.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840480"/>
            <a:ext cx="3931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El historial del system prompt queda sin usar en los casos fallidos.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434840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B3A5C"/>
                </a:solidFill>
                <a:latin typeface="Calibri"/>
              </a:rPr>
              <a:t>→ Casos B · C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CF36DA7-D2C4-4C7F-9209-5B96FCD88681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31" name="Shape 0">
              <a:extLst>
                <a:ext uri="{FF2B5EF4-FFF2-40B4-BE49-F238E27FC236}">
                  <a16:creationId xmlns:a16="http://schemas.microsoft.com/office/drawing/2014/main" id="{CA2E4E89-C798-4F7A-A793-1297504394C2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Text 1">
              <a:extLst>
                <a:ext uri="{FF2B5EF4-FFF2-40B4-BE49-F238E27FC236}">
                  <a16:creationId xmlns:a16="http://schemas.microsoft.com/office/drawing/2014/main" id="{DEBE46D9-1D22-44E4-A7F1-1D706F72848A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33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5 · LO APRENDIDO SOBRE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dirty="0">
                <a:solidFill>
                  <a:srgbClr val="1B3A5C"/>
                </a:solidFill>
                <a:latin typeface="Calibri"/>
              </a:rPr>
              <a:t>La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frontera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código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↔ LLM ·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cuándo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usar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cada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alibri"/>
              </a:rPr>
              <a:t>No se sustituyen. El código filtra · el LLM razona. La arquitectura los compone.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40233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508760"/>
            <a:ext cx="36941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3A5C"/>
                </a:solidFill>
                <a:latin typeface="Calibri"/>
              </a:rPr>
              <a:t>CÓDIGO (REGLAS DETERMINISTAS)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365760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1B3A5C"/>
                </a:solidFill>
                <a:latin typeface="Calibri"/>
              </a:rPr>
              <a:t>Úsalo cuando…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La condición es binaria e inequívoca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  ej.  P_real = 0  →  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Una sola variable basta para decidir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  ej.  −8 % ≤ PDI ≤ +8 %  →  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Necesitas latencia &lt; 100 ms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Volumen de eventos muy alto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El error tiene coste bajo o reversible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B3A5C"/>
                </a:solidFill>
                <a:latin typeface="Calibri"/>
              </a:rPr>
              <a:t>En este sistema:</a:t>
            </a:r>
          </a:p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Filtro de escalado del Workflow A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Baseline del nodo 3 del Workflow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417320"/>
            <a:ext cx="402336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9472" y="1508760"/>
            <a:ext cx="36941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8A33D"/>
                </a:solidFill>
                <a:latin typeface="Calibri"/>
              </a:rPr>
              <a:t>LLM (RAZONAMIENTO FLEXIBLE)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920240"/>
            <a:ext cx="3657600" cy="2331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E8A33D"/>
                </a:solidFill>
                <a:latin typeface="Calibri"/>
              </a:rPr>
              <a:t>Úsalo cuando…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Hay que combinar varias variables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  PDI + cloud + T + historial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El contexto cambia la interpretación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  −25 % con calima ≠ −25 % sin calima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Hay anomalía física no expresable como regla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 i="0">
                <a:solidFill>
                  <a:srgbClr val="6B6B6B"/>
                </a:solidFill>
                <a:latin typeface="Calibri"/>
              </a:rPr>
              <a:t>  P_real &gt; P_pico → clase E (caso real)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10141B"/>
                </a:solidFill>
                <a:latin typeface="Calibri"/>
              </a:rPr>
              <a:t>• Necesitas explicabilidad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E8A33D"/>
                </a:solidFill>
                <a:latin typeface="Calibri"/>
              </a:rPr>
              <a:t>En este sistema: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Diagnóstico final del nodo 4 del Workflow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91228"/>
            <a:ext cx="841248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dirty="0">
                <a:solidFill>
                  <a:srgbClr val="1B3A5C"/>
                </a:solidFill>
                <a:latin typeface="Calibri"/>
              </a:rPr>
              <a:t>LLM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diagnostica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con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el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resultado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de la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regla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como</a:t>
            </a:r>
            <a:r>
              <a:rPr sz="12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B3A5C"/>
                </a:solidFill>
                <a:latin typeface="Calibri"/>
              </a:rPr>
              <a:t>contexto</a:t>
            </a:r>
            <a:endParaRPr sz="1200" b="1" i="0" dirty="0">
              <a:solidFill>
                <a:srgbClr val="1B3A5C"/>
              </a:solidFill>
              <a:latin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02BAD7-A332-4E19-B2AE-C115F53E524B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18" name="Shape 0">
              <a:extLst>
                <a:ext uri="{FF2B5EF4-FFF2-40B4-BE49-F238E27FC236}">
                  <a16:creationId xmlns:a16="http://schemas.microsoft.com/office/drawing/2014/main" id="{ECC1847E-2ED4-4A58-ADDB-5C4CD2000D65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Text 1">
              <a:extLst>
                <a:ext uri="{FF2B5EF4-FFF2-40B4-BE49-F238E27FC236}">
                  <a16:creationId xmlns:a16="http://schemas.microsoft.com/office/drawing/2014/main" id="{F96E47F2-A916-43B4-9215-A1F4E2844E6A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34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5 · LO APRENDIDO SOBRE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2400" b="1" dirty="0">
                <a:solidFill>
                  <a:srgbClr val="1B3A5C"/>
                </a:solidFill>
                <a:latin typeface="Calibri"/>
              </a:rPr>
              <a:t>E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lección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de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modelo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en</a:t>
            </a:r>
            <a:r>
              <a:rPr sz="2400" b="1" i="0" dirty="0">
                <a:solidFill>
                  <a:srgbClr val="1B3A5C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1B3A5C"/>
                </a:solidFill>
                <a:latin typeface="Calibri"/>
              </a:rPr>
              <a:t>producción</a:t>
            </a:r>
            <a:endParaRPr sz="2400" b="1" i="0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8412480" cy="199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 dirty="0">
                <a:solidFill>
                  <a:srgbClr val="6B6B6B"/>
                </a:solidFill>
                <a:latin typeface="Calibri"/>
              </a:rPr>
              <a:t>No </a:t>
            </a:r>
            <a:r>
              <a:rPr lang="es-ES" sz="1200" dirty="0" err="1">
                <a:solidFill>
                  <a:srgbClr val="6B6B6B"/>
                </a:solidFill>
                <a:latin typeface="Calibri"/>
              </a:rPr>
              <a:t>só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lo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coste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.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Cada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modelo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es-ES" sz="1200" dirty="0">
                <a:solidFill>
                  <a:srgbClr val="6B6B6B"/>
                </a:solidFill>
                <a:latin typeface="Calibri"/>
              </a:rPr>
              <a:t>expone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un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perfil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errores</a:t>
            </a:r>
            <a:r>
              <a:rPr sz="12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B6B6B"/>
                </a:solidFill>
                <a:latin typeface="Calibri"/>
              </a:rPr>
              <a:t>distinto</a:t>
            </a:r>
            <a:endParaRPr sz="12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17320"/>
          <a:ext cx="8412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Recomendación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 qué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Coste</a:t>
                      </a:r>
                    </a:p>
                  </a:txBody>
                  <a:tcPr marL="73152" marR="73152" marT="36576" marB="36576"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Diagnóstico de seguridad · falso negativo crítico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0141B"/>
                          </a:solidFill>
                          <a:latin typeface="Calibri"/>
                        </a:rPr>
                        <a:t>Sonnet 4.6 / Gemini Pro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FN no detectado = fallo no avisado. Modelo grande captura los 5 casos.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0392B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Sistema con escalado previo · solo casos extremos llegan al LLM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0141B"/>
                          </a:solidFill>
                          <a:latin typeface="Calibri"/>
                        </a:rPr>
                        <a:t>Sonnet 4.6 o Gemini Flash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Aciertan A y D con confianza ≥ 0.97. Reducir umbral del filtro a PDI &lt; −10 %.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E8A33D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Confirmación silenciosa de normalidad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0141B"/>
                          </a:solidFill>
                          <a:latin typeface="Calibri"/>
                        </a:rPr>
                        <a:t>Gemini Flash Lite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 dirty="0" err="1">
                          <a:solidFill>
                            <a:srgbClr val="10141B"/>
                          </a:solidFill>
                          <a:latin typeface="Calibri"/>
                        </a:rPr>
                        <a:t>Acierta</a:t>
                      </a:r>
                      <a:r>
                        <a:rPr sz="1000" b="0" dirty="0">
                          <a:solidFill>
                            <a:srgbClr val="10141B"/>
                          </a:solidFill>
                          <a:latin typeface="Calibri"/>
                        </a:rPr>
                        <a:t> A · 1.00 ·</a:t>
                      </a:r>
                      <a:r>
                        <a:rPr lang="es-ES" sz="1000" b="0" dirty="0">
                          <a:solidFill>
                            <a:srgbClr val="10141B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>
                          <a:solidFill>
                            <a:srgbClr val="10141B"/>
                          </a:solidFill>
                          <a:latin typeface="Calibri"/>
                        </a:rPr>
                        <a:t>Bajo </a:t>
                      </a:r>
                      <a:r>
                        <a:rPr sz="1000" b="0" dirty="0" err="1">
                          <a:solidFill>
                            <a:srgbClr val="10141B"/>
                          </a:solidFill>
                          <a:latin typeface="Calibri"/>
                        </a:rPr>
                        <a:t>coste</a:t>
                      </a:r>
                      <a:r>
                        <a:rPr sz="1000" b="0" dirty="0">
                          <a:solidFill>
                            <a:srgbClr val="10141B"/>
                          </a:solidFill>
                          <a:latin typeface="Calibri"/>
                        </a:rPr>
                        <a:t>, </a:t>
                      </a:r>
                      <a:r>
                        <a:rPr sz="1000" b="0" dirty="0" err="1">
                          <a:solidFill>
                            <a:srgbClr val="10141B"/>
                          </a:solidFill>
                          <a:latin typeface="Calibri"/>
                        </a:rPr>
                        <a:t>alta</a:t>
                      </a:r>
                      <a:r>
                        <a:rPr sz="1000" b="0" dirty="0">
                          <a:solidFill>
                            <a:srgbClr val="10141B"/>
                          </a:solidFill>
                          <a:latin typeface="Calibri"/>
                        </a:rPr>
                        <a:t> </a:t>
                      </a:r>
                      <a:r>
                        <a:rPr sz="1000" b="0" dirty="0" err="1">
                          <a:solidFill>
                            <a:srgbClr val="10141B"/>
                          </a:solidFill>
                          <a:latin typeface="Calibri"/>
                        </a:rPr>
                        <a:t>disponibilidad</a:t>
                      </a:r>
                      <a:r>
                        <a:rPr sz="1000" b="0" dirty="0">
                          <a:solidFill>
                            <a:srgbClr val="10141B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Investigación · análisis post-mortem · debugging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0141B"/>
                          </a:solidFill>
                          <a:latin typeface="Calibri"/>
                        </a:rPr>
                        <a:t>Sonnet 4.6 con razonamiento extendido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0141B"/>
                          </a:solidFill>
                          <a:latin typeface="Calibri"/>
                        </a:rPr>
                        <a:t>Razonamiento físico cuantitativo, citas a eventos históricos, explicaciones detalladas.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 dirty="0">
                          <a:solidFill>
                            <a:srgbClr val="C0392B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73152" marT="36576" marB="36576" anchor="ctr"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F80829F-DAC4-4F83-A2B7-5ADDC2244074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13" name="Shape 0">
              <a:extLst>
                <a:ext uri="{FF2B5EF4-FFF2-40B4-BE49-F238E27FC236}">
                  <a16:creationId xmlns:a16="http://schemas.microsoft.com/office/drawing/2014/main" id="{10091882-BF08-484E-B151-23A383ADB3BA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57721D86-C4C3-49EA-85A4-1FF8C44217DD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35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B3A5C"/>
                </a:solidFill>
                <a:latin typeface="Calibri"/>
              </a:rPr>
              <a:t>ACTO 6 · 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5488"/>
            <a:ext cx="8412480" cy="3997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2400" b="1" i="0" dirty="0">
                <a:solidFill>
                  <a:srgbClr val="1B3A5C"/>
                </a:solidFill>
                <a:latin typeface="Calibri"/>
              </a:rPr>
              <a:t>Aborda tu Proyecto</a:t>
            </a:r>
            <a:endParaRPr sz="2400" b="1" i="0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48463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6B6B6B"/>
                </a:solidFill>
                <a:latin typeface="Calibri"/>
              </a:rPr>
              <a:t>COIIAOC · P2 · Agente Monitor Solar FV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402336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1400" b="1" i="0" dirty="0">
                <a:solidFill>
                  <a:srgbClr val="1B3A5C"/>
                </a:solidFill>
                <a:latin typeface="Calibri"/>
              </a:rPr>
              <a:t>P2 Agente Monitor Solar FV </a:t>
            </a:r>
            <a:endParaRPr sz="1400" b="1" i="0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65760" y="169164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09928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JSON de workflows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920240"/>
            <a:ext cx="352044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dirty="0">
                <a:solidFill>
                  <a:srgbClr val="6B6B6B"/>
                </a:solidFill>
                <a:latin typeface="Calibri"/>
              </a:rPr>
              <a:t>t</a:t>
            </a:r>
            <a:r>
              <a:rPr lang="es-ES" sz="900" b="0" i="0" dirty="0">
                <a:solidFill>
                  <a:srgbClr val="6B6B6B"/>
                </a:solidFill>
                <a:latin typeface="Calibri"/>
              </a:rPr>
              <a:t>S</a:t>
            </a:r>
            <a:r>
              <a:rPr sz="900" b="0" i="0" dirty="0" err="1">
                <a:solidFill>
                  <a:srgbClr val="6B6B6B"/>
                </a:solidFill>
                <a:latin typeface="Calibri"/>
              </a:rPr>
              <a:t>olución</a:t>
            </a:r>
            <a:r>
              <a:rPr sz="9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es-ES" sz="900" b="0" i="0" dirty="0" err="1">
                <a:solidFill>
                  <a:srgbClr val="6B6B6B"/>
                </a:solidFill>
                <a:latin typeface="Calibri"/>
              </a:rPr>
              <a:t>Workflows</a:t>
            </a:r>
            <a:r>
              <a:rPr sz="900" b="0" i="0" dirty="0">
                <a:solidFill>
                  <a:srgbClr val="6B6B6B"/>
                </a:solidFill>
                <a:latin typeface="Calibri"/>
              </a:rPr>
              <a:t> A y B (Gemini)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219456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212848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JSON de casos de prueba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23160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alibri"/>
              </a:rPr>
              <a:t>caso_A · caso_B · caso_C · caso_D · caso_E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2697480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715768"/>
            <a:ext cx="3520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B3A5C"/>
                </a:solidFill>
                <a:latin typeface="Calibri"/>
              </a:rPr>
              <a:t>guías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926080"/>
            <a:ext cx="3520440" cy="149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900" b="0" i="0" dirty="0">
                <a:solidFill>
                  <a:srgbClr val="6B6B6B"/>
                </a:solidFill>
                <a:latin typeface="Calibri"/>
              </a:rPr>
              <a:t>Diapositivas de la sesión</a:t>
            </a:r>
            <a:endParaRPr sz="9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26280" y="1188720"/>
            <a:ext cx="9000" cy="3200400"/>
          </a:xfrm>
          <a:prstGeom prst="rect">
            <a:avLst/>
          </a:prstGeom>
          <a:solidFill>
            <a:srgbClr val="E7E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1188720"/>
            <a:ext cx="4023360" cy="23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1B3A5C"/>
                </a:solidFill>
                <a:latin typeface="Calibri"/>
              </a:rPr>
              <a:t>P3</a:t>
            </a:r>
            <a:r>
              <a:rPr lang="es-ES" sz="1400" b="1" i="0" dirty="0">
                <a:solidFill>
                  <a:srgbClr val="1B3A5C"/>
                </a:solidFill>
                <a:latin typeface="Calibri"/>
              </a:rPr>
              <a:t> Tu Proyecto</a:t>
            </a:r>
            <a:endParaRPr sz="1400" b="1" i="0" dirty="0">
              <a:solidFill>
                <a:srgbClr val="1B3A5C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16916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141B"/>
                </a:solidFill>
                <a:latin typeface="Calibri"/>
              </a:rPr>
              <a:t>Adaptar este sistema a un caso de vuestra empresa.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19456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0141B"/>
                </a:solidFill>
                <a:latin typeface="Calibri"/>
              </a:rPr>
              <a:t>1. IO/RE de vuestro proceso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0141B"/>
                </a:solidFill>
                <a:latin typeface="Calibri"/>
              </a:rPr>
              <a:t>2. Identificar la ontología de fallos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0141B"/>
                </a:solidFill>
                <a:latin typeface="Calibri"/>
              </a:rPr>
              <a:t>3. Diseñar el World Model (P_esp)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0141B"/>
                </a:solidFill>
                <a:latin typeface="Calibri"/>
              </a:rPr>
              <a:t>4. Adaptar Workflow A y 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10141B"/>
                </a:solidFill>
                <a:latin typeface="Calibri"/>
              </a:rPr>
              <a:t>5. Elegir LLM con criterio · no por defecto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434840"/>
            <a:ext cx="91440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El sistema deja de ser teórico cuando lo migráis a vuestro propio dominio.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2F8FA9E-EE23-4F57-964D-BA14321770DE}"/>
              </a:ext>
            </a:extLst>
          </p:cNvPr>
          <p:cNvGrpSpPr/>
          <p:nvPr/>
        </p:nvGrpSpPr>
        <p:grpSpPr>
          <a:xfrm>
            <a:off x="8183880" y="228600"/>
            <a:ext cx="777240" cy="292608"/>
            <a:chOff x="8183880" y="228600"/>
            <a:chExt cx="777240" cy="292608"/>
          </a:xfrm>
        </p:grpSpPr>
        <p:sp>
          <p:nvSpPr>
            <p:cNvPr id="38" name="Shape 0">
              <a:extLst>
                <a:ext uri="{FF2B5EF4-FFF2-40B4-BE49-F238E27FC236}">
                  <a16:creationId xmlns:a16="http://schemas.microsoft.com/office/drawing/2014/main" id="{54D05FE0-E1F8-43D2-9D31-1BC551A03B73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rgbClr val="1E3A5F"/>
            </a:solidFill>
            <a:ln/>
          </p:spPr>
          <p:txBody>
            <a:bodyPr/>
            <a:lstStyle/>
            <a:p>
              <a:endParaRPr lang="es-ES"/>
            </a:p>
          </p:txBody>
        </p:sp>
        <p:sp>
          <p:nvSpPr>
            <p:cNvPr id="39" name="Text 1">
              <a:extLst>
                <a:ext uri="{FF2B5EF4-FFF2-40B4-BE49-F238E27FC236}">
                  <a16:creationId xmlns:a16="http://schemas.microsoft.com/office/drawing/2014/main" id="{111DD0A8-C3A8-4CF1-A00D-848A844E65FF}"/>
                </a:ext>
              </a:extLst>
            </p:cNvPr>
            <p:cNvSpPr/>
            <p:nvPr/>
          </p:nvSpPr>
          <p:spPr>
            <a:xfrm>
              <a:off x="8183880" y="228600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36 · 38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4499</Words>
  <Application>Microsoft Office PowerPoint</Application>
  <PresentationFormat>On-screen Show (16:9)</PresentationFormat>
  <Paragraphs>792</Paragraphs>
  <Slides>36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COIIAOC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· Agente Monitor Solar FV</dc:title>
  <dc:subject>PptxGenJS Presentation</dc:subject>
  <dc:creator>Bernardo Ronquillo Japón</dc:creator>
  <cp:lastModifiedBy>Bernardo Ronquillo Japón</cp:lastModifiedBy>
  <cp:revision>15</cp:revision>
  <dcterms:created xsi:type="dcterms:W3CDTF">2026-04-28T07:11:06Z</dcterms:created>
  <dcterms:modified xsi:type="dcterms:W3CDTF">2026-04-28T15:08:38Z</dcterms:modified>
</cp:coreProperties>
</file>